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8" r:id="rId2"/>
    <p:sldId id="257" r:id="rId3"/>
    <p:sldId id="271" r:id="rId4"/>
    <p:sldId id="280" r:id="rId5"/>
    <p:sldId id="295" r:id="rId6"/>
    <p:sldId id="260" r:id="rId7"/>
    <p:sldId id="281" r:id="rId8"/>
    <p:sldId id="270" r:id="rId9"/>
    <p:sldId id="262" r:id="rId10"/>
    <p:sldId id="266" r:id="rId11"/>
    <p:sldId id="269" r:id="rId12"/>
    <p:sldId id="275" r:id="rId13"/>
    <p:sldId id="274" r:id="rId14"/>
    <p:sldId id="273" r:id="rId15"/>
    <p:sldId id="296" r:id="rId16"/>
    <p:sldId id="290" r:id="rId17"/>
    <p:sldId id="268" r:id="rId18"/>
    <p:sldId id="279" r:id="rId19"/>
    <p:sldId id="267" r:id="rId20"/>
    <p:sldId id="297" r:id="rId21"/>
    <p:sldId id="264" r:id="rId22"/>
    <p:sldId id="291" r:id="rId23"/>
    <p:sldId id="276" r:id="rId24"/>
    <p:sldId id="293" r:id="rId25"/>
    <p:sldId id="284" r:id="rId26"/>
    <p:sldId id="292" r:id="rId27"/>
    <p:sldId id="263" r:id="rId28"/>
    <p:sldId id="285" r:id="rId29"/>
    <p:sldId id="277" r:id="rId30"/>
    <p:sldId id="278" r:id="rId31"/>
    <p:sldId id="29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1AB489-5E09-4285-9F90-C052C4C85D79}">
          <p14:sldIdLst>
            <p14:sldId id="258"/>
            <p14:sldId id="257"/>
            <p14:sldId id="271"/>
            <p14:sldId id="280"/>
            <p14:sldId id="295"/>
            <p14:sldId id="260"/>
            <p14:sldId id="281"/>
            <p14:sldId id="270"/>
            <p14:sldId id="262"/>
            <p14:sldId id="266"/>
            <p14:sldId id="269"/>
            <p14:sldId id="275"/>
            <p14:sldId id="274"/>
            <p14:sldId id="273"/>
            <p14:sldId id="296"/>
            <p14:sldId id="290"/>
            <p14:sldId id="268"/>
            <p14:sldId id="279"/>
            <p14:sldId id="267"/>
            <p14:sldId id="297"/>
            <p14:sldId id="264"/>
            <p14:sldId id="291"/>
            <p14:sldId id="276"/>
            <p14:sldId id="293"/>
            <p14:sldId id="284"/>
            <p14:sldId id="292"/>
            <p14:sldId id="263"/>
            <p14:sldId id="285"/>
            <p14:sldId id="277"/>
            <p14:sldId id="278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22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vgenia Andreou" userId="8e89e74f621e7047" providerId="LiveId" clId="{EF53017E-E624-4052-9F70-6403551E244D}"/>
    <pc:docChg chg="undo redo custSel addSld delSld modSld sldOrd modMainMaster addSection delSection modSection">
      <pc:chgData name="Evgenia Andreou" userId="8e89e74f621e7047" providerId="LiveId" clId="{EF53017E-E624-4052-9F70-6403551E244D}" dt="2026-02-18T15:19:20.473" v="42583" actId="20577"/>
      <pc:docMkLst>
        <pc:docMk/>
      </pc:docMkLst>
      <pc:sldChg chg="modSp mod">
        <pc:chgData name="Evgenia Andreou" userId="8e89e74f621e7047" providerId="LiveId" clId="{EF53017E-E624-4052-9F70-6403551E244D}" dt="2026-02-18T15:19:20.473" v="42583" actId="20577"/>
        <pc:sldMkLst>
          <pc:docMk/>
          <pc:sldMk cId="568867521" sldId="257"/>
        </pc:sldMkLst>
        <pc:spChg chg="mod">
          <ac:chgData name="Evgenia Andreou" userId="8e89e74f621e7047" providerId="LiveId" clId="{EF53017E-E624-4052-9F70-6403551E244D}" dt="2026-02-18T15:19:20.473" v="42583" actId="20577"/>
          <ac:spMkLst>
            <pc:docMk/>
            <pc:sldMk cId="568867521" sldId="257"/>
            <ac:spMk id="4" creationId="{DA253F5B-969C-ED7C-E6DD-0409268E6EFB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7332D56-0C63-4F1A-BB01-0DE598BC1FB9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9873C0-083F-480C-BB7C-3623EDBB17D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Safety and Respect of participants</a:t>
          </a:r>
          <a:endParaRPr lang="en-US" sz="1500" dirty="0"/>
        </a:p>
      </dgm:t>
    </dgm:pt>
    <dgm:pt modelId="{A7FC63FC-7B09-4F9D-94B4-B3405ACCE3FD}" type="parTrans" cxnId="{CD9B0AE1-6C8D-4831-9FED-0326E94E99F2}">
      <dgm:prSet/>
      <dgm:spPr/>
      <dgm:t>
        <a:bodyPr/>
        <a:lstStyle/>
        <a:p>
          <a:endParaRPr lang="en-US"/>
        </a:p>
      </dgm:t>
    </dgm:pt>
    <dgm:pt modelId="{A7A26DBE-D644-4D57-B3D1-63B144291EE8}" type="sibTrans" cxnId="{CD9B0AE1-6C8D-4831-9FED-0326E94E99F2}">
      <dgm:prSet/>
      <dgm:spPr/>
      <dgm:t>
        <a:bodyPr/>
        <a:lstStyle/>
        <a:p>
          <a:endParaRPr lang="en-US"/>
        </a:p>
      </dgm:t>
    </dgm:pt>
    <dgm:pt modelId="{0E3DE1B1-49EE-4D68-AB51-7B4B224232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500" dirty="0"/>
            <a:t>Minimization of </a:t>
          </a:r>
          <a:r>
            <a:rPr lang="en-GB" sz="1500" dirty="0"/>
            <a:t>Participants’</a:t>
          </a:r>
          <a:r>
            <a:rPr lang="el-GR" sz="1500" dirty="0"/>
            <a:t> </a:t>
          </a:r>
          <a:r>
            <a:rPr lang="en-GB" sz="1500" dirty="0"/>
            <a:t>contribution to scientific progress</a:t>
          </a:r>
          <a:endParaRPr lang="en-US" sz="1500" dirty="0"/>
        </a:p>
      </dgm:t>
    </dgm:pt>
    <dgm:pt modelId="{A9C5AD11-83F7-4734-A04B-F8080892FCA7}" type="parTrans" cxnId="{604F5B8A-1ABD-454E-AA14-4B57C791CED7}">
      <dgm:prSet/>
      <dgm:spPr/>
      <dgm:t>
        <a:bodyPr/>
        <a:lstStyle/>
        <a:p>
          <a:endParaRPr lang="en-US"/>
        </a:p>
      </dgm:t>
    </dgm:pt>
    <dgm:pt modelId="{CB00D063-327D-40DB-872B-126FF32C8C91}" type="sibTrans" cxnId="{604F5B8A-1ABD-454E-AA14-4B57C791CED7}">
      <dgm:prSet/>
      <dgm:spPr/>
      <dgm:t>
        <a:bodyPr/>
        <a:lstStyle/>
        <a:p>
          <a:endParaRPr lang="en-US"/>
        </a:p>
      </dgm:t>
    </dgm:pt>
    <dgm:pt modelId="{A7550CFF-ED48-4E89-9109-4E7A240D002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Loss of funding.  </a:t>
          </a:r>
          <a:br>
            <a:rPr lang="en-GB" sz="1500" dirty="0"/>
          </a:br>
          <a:r>
            <a:rPr lang="en-GB" sz="1500" dirty="0"/>
            <a:t>Especially in scaled advanced phases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Could be utilized elsewhere</a:t>
          </a:r>
          <a:endParaRPr lang="en-US" sz="1500" dirty="0"/>
        </a:p>
      </dgm:t>
    </dgm:pt>
    <dgm:pt modelId="{1EFC7192-0E72-410A-AF5D-1298584EF7BE}" type="parTrans" cxnId="{6F745E35-6ACD-4C05-B793-79CA9D1F16CB}">
      <dgm:prSet/>
      <dgm:spPr/>
      <dgm:t>
        <a:bodyPr/>
        <a:lstStyle/>
        <a:p>
          <a:endParaRPr lang="en-US"/>
        </a:p>
      </dgm:t>
    </dgm:pt>
    <dgm:pt modelId="{E854EDA6-A918-44AB-B652-35C6D25C6B96}" type="sibTrans" cxnId="{6F745E35-6ACD-4C05-B793-79CA9D1F16CB}">
      <dgm:prSet/>
      <dgm:spPr/>
      <dgm:t>
        <a:bodyPr/>
        <a:lstStyle/>
        <a:p>
          <a:endParaRPr lang="en-US"/>
        </a:p>
      </dgm:t>
    </dgm:pt>
    <dgm:pt modelId="{1FEEF084-AEF7-4669-B2BC-BB74CB0AEC4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Inefficient and slow scientific progress </a:t>
          </a:r>
          <a:r>
            <a:rPr lang="en-GB" sz="1500" dirty="0">
              <a:sym typeface="Wingdings" panose="05000000000000000000" pitchFamily="2" charset="2"/>
            </a:rPr>
            <a:t> Clinical practice impact</a:t>
          </a:r>
          <a:endParaRPr lang="en-US" sz="1500" dirty="0"/>
        </a:p>
      </dgm:t>
    </dgm:pt>
    <dgm:pt modelId="{6A927749-1B95-4F84-9079-641A1AE53E0F}" type="parTrans" cxnId="{1461E955-0A7F-486E-B47F-81FDD10C0F90}">
      <dgm:prSet/>
      <dgm:spPr/>
      <dgm:t>
        <a:bodyPr/>
        <a:lstStyle/>
        <a:p>
          <a:endParaRPr lang="en-US"/>
        </a:p>
      </dgm:t>
    </dgm:pt>
    <dgm:pt modelId="{95F395C5-EEB1-419B-9168-C9417C628B0E}" type="sibTrans" cxnId="{1461E955-0A7F-486E-B47F-81FDD10C0F90}">
      <dgm:prSet/>
      <dgm:spPr/>
      <dgm:t>
        <a:bodyPr/>
        <a:lstStyle/>
        <a:p>
          <a:endParaRPr lang="en-US"/>
        </a:p>
      </dgm:t>
    </dgm:pt>
    <dgm:pt modelId="{C7BF4371-A1F7-4607-9CE2-37B88F68E7E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500" dirty="0"/>
            <a:t>Unreliable scientific information </a:t>
          </a:r>
          <a:r>
            <a:rPr lang="en-GB" sz="1500" dirty="0">
              <a:sym typeface="Wingdings" panose="05000000000000000000" pitchFamily="2" charset="2"/>
            </a:rPr>
            <a:t></a:t>
          </a:r>
          <a:r>
            <a:rPr lang="en-GB" sz="1500" dirty="0"/>
            <a:t> Researchers, Clinicians and Replicability, Reproducibility</a:t>
          </a:r>
          <a:endParaRPr lang="en-US" sz="1500" dirty="0"/>
        </a:p>
      </dgm:t>
    </dgm:pt>
    <dgm:pt modelId="{87BDF197-EAB3-4BC2-9030-C834FB021FC7}" type="parTrans" cxnId="{6CC17B64-1B3C-4FB7-A849-0A4775E2080C}">
      <dgm:prSet/>
      <dgm:spPr/>
      <dgm:t>
        <a:bodyPr/>
        <a:lstStyle/>
        <a:p>
          <a:endParaRPr lang="en-US"/>
        </a:p>
      </dgm:t>
    </dgm:pt>
    <dgm:pt modelId="{86B9B3ED-C9B9-4967-88C5-FBE70ECFC296}" type="sibTrans" cxnId="{6CC17B64-1B3C-4FB7-A849-0A4775E2080C}">
      <dgm:prSet/>
      <dgm:spPr/>
      <dgm:t>
        <a:bodyPr/>
        <a:lstStyle/>
        <a:p>
          <a:endParaRPr lang="en-US"/>
        </a:p>
      </dgm:t>
    </dgm:pt>
    <dgm:pt modelId="{CFA2DE15-0569-49B3-907B-0D29E881126D}" type="pres">
      <dgm:prSet presAssocID="{F7332D56-0C63-4F1A-BB01-0DE598BC1FB9}" presName="root" presStyleCnt="0">
        <dgm:presLayoutVars>
          <dgm:dir/>
          <dgm:resizeHandles val="exact"/>
        </dgm:presLayoutVars>
      </dgm:prSet>
      <dgm:spPr/>
    </dgm:pt>
    <dgm:pt modelId="{66C943EB-E2DC-4AD6-831A-7B2082EE188A}" type="pres">
      <dgm:prSet presAssocID="{BF9873C0-083F-480C-BB7C-3623EDBB17D1}" presName="compNode" presStyleCnt="0"/>
      <dgm:spPr/>
    </dgm:pt>
    <dgm:pt modelId="{465F097C-F6C6-4E8C-9C63-81C3579DED6E}" type="pres">
      <dgm:prSet presAssocID="{BF9873C0-083F-480C-BB7C-3623EDBB17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m"/>
        </a:ext>
      </dgm:extLst>
    </dgm:pt>
    <dgm:pt modelId="{0ED36562-9509-4190-89D8-3569DE75AE81}" type="pres">
      <dgm:prSet presAssocID="{BF9873C0-083F-480C-BB7C-3623EDBB17D1}" presName="spaceRect" presStyleCnt="0"/>
      <dgm:spPr/>
    </dgm:pt>
    <dgm:pt modelId="{B84B26FC-9C40-4CE1-BE1A-0304970FB05F}" type="pres">
      <dgm:prSet presAssocID="{BF9873C0-083F-480C-BB7C-3623EDBB17D1}" presName="textRect" presStyleLbl="revTx" presStyleIdx="0" presStyleCnt="5">
        <dgm:presLayoutVars>
          <dgm:chMax val="1"/>
          <dgm:chPref val="1"/>
        </dgm:presLayoutVars>
      </dgm:prSet>
      <dgm:spPr/>
    </dgm:pt>
    <dgm:pt modelId="{56AFD0B3-A392-4D5D-B6C6-CBD4AA7F23FB}" type="pres">
      <dgm:prSet presAssocID="{A7A26DBE-D644-4D57-B3D1-63B144291EE8}" presName="sibTrans" presStyleCnt="0"/>
      <dgm:spPr/>
    </dgm:pt>
    <dgm:pt modelId="{93F1E70A-72E4-4B21-8202-7AEF33FE162A}" type="pres">
      <dgm:prSet presAssocID="{0E3DE1B1-49EE-4D68-AB51-7B4B224232BF}" presName="compNode" presStyleCnt="0"/>
      <dgm:spPr/>
    </dgm:pt>
    <dgm:pt modelId="{10CD44B8-4BED-46A9-AEC9-C2FFF20B9DB9}" type="pres">
      <dgm:prSet presAssocID="{0E3DE1B1-49EE-4D68-AB51-7B4B224232B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D2B540A-B48F-46B7-B5F6-8C1B48920A1B}" type="pres">
      <dgm:prSet presAssocID="{0E3DE1B1-49EE-4D68-AB51-7B4B224232BF}" presName="spaceRect" presStyleCnt="0"/>
      <dgm:spPr/>
    </dgm:pt>
    <dgm:pt modelId="{B4D5C9E3-7664-4725-B0D3-D184449080D2}" type="pres">
      <dgm:prSet presAssocID="{0E3DE1B1-49EE-4D68-AB51-7B4B224232BF}" presName="textRect" presStyleLbl="revTx" presStyleIdx="1" presStyleCnt="5">
        <dgm:presLayoutVars>
          <dgm:chMax val="1"/>
          <dgm:chPref val="1"/>
        </dgm:presLayoutVars>
      </dgm:prSet>
      <dgm:spPr/>
    </dgm:pt>
    <dgm:pt modelId="{59DBEEBD-3F87-49E7-89D2-D1300BC6F8AC}" type="pres">
      <dgm:prSet presAssocID="{CB00D063-327D-40DB-872B-126FF32C8C91}" presName="sibTrans" presStyleCnt="0"/>
      <dgm:spPr/>
    </dgm:pt>
    <dgm:pt modelId="{A2D2381B-9C09-4B66-86BC-9736096DC56D}" type="pres">
      <dgm:prSet presAssocID="{A7550CFF-ED48-4E89-9109-4E7A240D0020}" presName="compNode" presStyleCnt="0"/>
      <dgm:spPr/>
    </dgm:pt>
    <dgm:pt modelId="{59A2B8B4-6246-41C8-BFEC-BD6C0959915A}" type="pres">
      <dgm:prSet presAssocID="{A7550CFF-ED48-4E89-9109-4E7A240D002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F7685A0A-EE1E-43E2-B6BD-D94782D951AF}" type="pres">
      <dgm:prSet presAssocID="{A7550CFF-ED48-4E89-9109-4E7A240D0020}" presName="spaceRect" presStyleCnt="0"/>
      <dgm:spPr/>
    </dgm:pt>
    <dgm:pt modelId="{4567C35B-79DC-41F4-A4C9-989CEA0A7D31}" type="pres">
      <dgm:prSet presAssocID="{A7550CFF-ED48-4E89-9109-4E7A240D0020}" presName="textRect" presStyleLbl="revTx" presStyleIdx="2" presStyleCnt="5">
        <dgm:presLayoutVars>
          <dgm:chMax val="1"/>
          <dgm:chPref val="1"/>
        </dgm:presLayoutVars>
      </dgm:prSet>
      <dgm:spPr/>
    </dgm:pt>
    <dgm:pt modelId="{5558F326-A597-4869-911B-6BA70A4C192C}" type="pres">
      <dgm:prSet presAssocID="{E854EDA6-A918-44AB-B652-35C6D25C6B96}" presName="sibTrans" presStyleCnt="0"/>
      <dgm:spPr/>
    </dgm:pt>
    <dgm:pt modelId="{A03AC974-C5D7-450F-A9AF-874FC352AC76}" type="pres">
      <dgm:prSet presAssocID="{1FEEF084-AEF7-4669-B2BC-BB74CB0AEC49}" presName="compNode" presStyleCnt="0"/>
      <dgm:spPr/>
    </dgm:pt>
    <dgm:pt modelId="{87EA96F7-4609-481C-93ED-651A855409D5}" type="pres">
      <dgm:prSet presAssocID="{1FEEF084-AEF7-4669-B2BC-BB74CB0AEC4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A9368559-1DCC-4926-8806-89C60FB40199}" type="pres">
      <dgm:prSet presAssocID="{1FEEF084-AEF7-4669-B2BC-BB74CB0AEC49}" presName="spaceRect" presStyleCnt="0"/>
      <dgm:spPr/>
    </dgm:pt>
    <dgm:pt modelId="{D868FBD3-FA58-4321-BE70-1730D9AA60CD}" type="pres">
      <dgm:prSet presAssocID="{1FEEF084-AEF7-4669-B2BC-BB74CB0AEC49}" presName="textRect" presStyleLbl="revTx" presStyleIdx="3" presStyleCnt="5">
        <dgm:presLayoutVars>
          <dgm:chMax val="1"/>
          <dgm:chPref val="1"/>
        </dgm:presLayoutVars>
      </dgm:prSet>
      <dgm:spPr/>
    </dgm:pt>
    <dgm:pt modelId="{D523FB8D-80E7-4DFF-8C69-294DC1A44843}" type="pres">
      <dgm:prSet presAssocID="{95F395C5-EEB1-419B-9168-C9417C628B0E}" presName="sibTrans" presStyleCnt="0"/>
      <dgm:spPr/>
    </dgm:pt>
    <dgm:pt modelId="{835B2F60-66FC-4045-BA98-F24534850279}" type="pres">
      <dgm:prSet presAssocID="{C7BF4371-A1F7-4607-9CE2-37B88F68E7EC}" presName="compNode" presStyleCnt="0"/>
      <dgm:spPr/>
    </dgm:pt>
    <dgm:pt modelId="{63D46D1B-C6EC-4E3F-8AA5-2244F78D2ABD}" type="pres">
      <dgm:prSet presAssocID="{C7BF4371-A1F7-4607-9CE2-37B88F68E7E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499584B-7FCA-4638-A18C-A303C309677E}" type="pres">
      <dgm:prSet presAssocID="{C7BF4371-A1F7-4607-9CE2-37B88F68E7EC}" presName="spaceRect" presStyleCnt="0"/>
      <dgm:spPr/>
    </dgm:pt>
    <dgm:pt modelId="{BE0FD85D-2C9A-4362-B00D-B6CE2B2C721C}" type="pres">
      <dgm:prSet presAssocID="{C7BF4371-A1F7-4607-9CE2-37B88F68E7E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3BC9034-C001-4563-9207-B80BE2442BD9}" type="presOf" srcId="{F7332D56-0C63-4F1A-BB01-0DE598BC1FB9}" destId="{CFA2DE15-0569-49B3-907B-0D29E881126D}" srcOrd="0" destOrd="0" presId="urn:microsoft.com/office/officeart/2018/2/layout/IconLabelList"/>
    <dgm:cxn modelId="{6F745E35-6ACD-4C05-B793-79CA9D1F16CB}" srcId="{F7332D56-0C63-4F1A-BB01-0DE598BC1FB9}" destId="{A7550CFF-ED48-4E89-9109-4E7A240D0020}" srcOrd="2" destOrd="0" parTransId="{1EFC7192-0E72-410A-AF5D-1298584EF7BE}" sibTransId="{E854EDA6-A918-44AB-B652-35C6D25C6B96}"/>
    <dgm:cxn modelId="{6CC17B64-1B3C-4FB7-A849-0A4775E2080C}" srcId="{F7332D56-0C63-4F1A-BB01-0DE598BC1FB9}" destId="{C7BF4371-A1F7-4607-9CE2-37B88F68E7EC}" srcOrd="4" destOrd="0" parTransId="{87BDF197-EAB3-4BC2-9030-C834FB021FC7}" sibTransId="{86B9B3ED-C9B9-4967-88C5-FBE70ECFC296}"/>
    <dgm:cxn modelId="{03FDE651-A85C-4B34-81E8-E6F655E18A64}" type="presOf" srcId="{0E3DE1B1-49EE-4D68-AB51-7B4B224232BF}" destId="{B4D5C9E3-7664-4725-B0D3-D184449080D2}" srcOrd="0" destOrd="0" presId="urn:microsoft.com/office/officeart/2018/2/layout/IconLabelList"/>
    <dgm:cxn modelId="{1461E955-0A7F-486E-B47F-81FDD10C0F90}" srcId="{F7332D56-0C63-4F1A-BB01-0DE598BC1FB9}" destId="{1FEEF084-AEF7-4669-B2BC-BB74CB0AEC49}" srcOrd="3" destOrd="0" parTransId="{6A927749-1B95-4F84-9079-641A1AE53E0F}" sibTransId="{95F395C5-EEB1-419B-9168-C9417C628B0E}"/>
    <dgm:cxn modelId="{5B813086-9A2F-4A93-A991-43B1DEAF61F0}" type="presOf" srcId="{C7BF4371-A1F7-4607-9CE2-37B88F68E7EC}" destId="{BE0FD85D-2C9A-4362-B00D-B6CE2B2C721C}" srcOrd="0" destOrd="0" presId="urn:microsoft.com/office/officeart/2018/2/layout/IconLabelList"/>
    <dgm:cxn modelId="{042C3A8A-403D-44A7-8677-D8CC5BEC10A9}" type="presOf" srcId="{A7550CFF-ED48-4E89-9109-4E7A240D0020}" destId="{4567C35B-79DC-41F4-A4C9-989CEA0A7D31}" srcOrd="0" destOrd="0" presId="urn:microsoft.com/office/officeart/2018/2/layout/IconLabelList"/>
    <dgm:cxn modelId="{604F5B8A-1ABD-454E-AA14-4B57C791CED7}" srcId="{F7332D56-0C63-4F1A-BB01-0DE598BC1FB9}" destId="{0E3DE1B1-49EE-4D68-AB51-7B4B224232BF}" srcOrd="1" destOrd="0" parTransId="{A9C5AD11-83F7-4734-A04B-F8080892FCA7}" sibTransId="{CB00D063-327D-40DB-872B-126FF32C8C91}"/>
    <dgm:cxn modelId="{46D652B1-BBFF-4C23-96C4-80B8B6C53B73}" type="presOf" srcId="{1FEEF084-AEF7-4669-B2BC-BB74CB0AEC49}" destId="{D868FBD3-FA58-4321-BE70-1730D9AA60CD}" srcOrd="0" destOrd="0" presId="urn:microsoft.com/office/officeart/2018/2/layout/IconLabelList"/>
    <dgm:cxn modelId="{CD9B0AE1-6C8D-4831-9FED-0326E94E99F2}" srcId="{F7332D56-0C63-4F1A-BB01-0DE598BC1FB9}" destId="{BF9873C0-083F-480C-BB7C-3623EDBB17D1}" srcOrd="0" destOrd="0" parTransId="{A7FC63FC-7B09-4F9D-94B4-B3405ACCE3FD}" sibTransId="{A7A26DBE-D644-4D57-B3D1-63B144291EE8}"/>
    <dgm:cxn modelId="{C057B7EB-4F4C-4ACA-99FB-519F23B55D67}" type="presOf" srcId="{BF9873C0-083F-480C-BB7C-3623EDBB17D1}" destId="{B84B26FC-9C40-4CE1-BE1A-0304970FB05F}" srcOrd="0" destOrd="0" presId="urn:microsoft.com/office/officeart/2018/2/layout/IconLabelList"/>
    <dgm:cxn modelId="{9F73E6A1-3B3B-4DA5-B4A3-687335B7B82E}" type="presParOf" srcId="{CFA2DE15-0569-49B3-907B-0D29E881126D}" destId="{66C943EB-E2DC-4AD6-831A-7B2082EE188A}" srcOrd="0" destOrd="0" presId="urn:microsoft.com/office/officeart/2018/2/layout/IconLabelList"/>
    <dgm:cxn modelId="{2E4DA9B2-9C7E-4FE1-AD7F-488098DBE1E9}" type="presParOf" srcId="{66C943EB-E2DC-4AD6-831A-7B2082EE188A}" destId="{465F097C-F6C6-4E8C-9C63-81C3579DED6E}" srcOrd="0" destOrd="0" presId="urn:microsoft.com/office/officeart/2018/2/layout/IconLabelList"/>
    <dgm:cxn modelId="{72D32EBB-28AE-4906-958F-573C11A0D6B6}" type="presParOf" srcId="{66C943EB-E2DC-4AD6-831A-7B2082EE188A}" destId="{0ED36562-9509-4190-89D8-3569DE75AE81}" srcOrd="1" destOrd="0" presId="urn:microsoft.com/office/officeart/2018/2/layout/IconLabelList"/>
    <dgm:cxn modelId="{ED88C220-A57B-4A78-8DF6-7B743CBA9EC6}" type="presParOf" srcId="{66C943EB-E2DC-4AD6-831A-7B2082EE188A}" destId="{B84B26FC-9C40-4CE1-BE1A-0304970FB05F}" srcOrd="2" destOrd="0" presId="urn:microsoft.com/office/officeart/2018/2/layout/IconLabelList"/>
    <dgm:cxn modelId="{AA062F8E-4019-4DA9-8004-A82DD35B2812}" type="presParOf" srcId="{CFA2DE15-0569-49B3-907B-0D29E881126D}" destId="{56AFD0B3-A392-4D5D-B6C6-CBD4AA7F23FB}" srcOrd="1" destOrd="0" presId="urn:microsoft.com/office/officeart/2018/2/layout/IconLabelList"/>
    <dgm:cxn modelId="{6442B60C-BC4B-4DAD-B2C9-A022A06CBDD8}" type="presParOf" srcId="{CFA2DE15-0569-49B3-907B-0D29E881126D}" destId="{93F1E70A-72E4-4B21-8202-7AEF33FE162A}" srcOrd="2" destOrd="0" presId="urn:microsoft.com/office/officeart/2018/2/layout/IconLabelList"/>
    <dgm:cxn modelId="{502582C1-C83C-47F0-A871-F1C0E0AAF126}" type="presParOf" srcId="{93F1E70A-72E4-4B21-8202-7AEF33FE162A}" destId="{10CD44B8-4BED-46A9-AEC9-C2FFF20B9DB9}" srcOrd="0" destOrd="0" presId="urn:microsoft.com/office/officeart/2018/2/layout/IconLabelList"/>
    <dgm:cxn modelId="{E2212F4C-4086-41F8-9FDC-582919D79951}" type="presParOf" srcId="{93F1E70A-72E4-4B21-8202-7AEF33FE162A}" destId="{6D2B540A-B48F-46B7-B5F6-8C1B48920A1B}" srcOrd="1" destOrd="0" presId="urn:microsoft.com/office/officeart/2018/2/layout/IconLabelList"/>
    <dgm:cxn modelId="{61FE6201-194B-4EAF-BEAA-EA9DBEF54188}" type="presParOf" srcId="{93F1E70A-72E4-4B21-8202-7AEF33FE162A}" destId="{B4D5C9E3-7664-4725-B0D3-D184449080D2}" srcOrd="2" destOrd="0" presId="urn:microsoft.com/office/officeart/2018/2/layout/IconLabelList"/>
    <dgm:cxn modelId="{52DB66B3-56E4-4E75-8C69-6A671216501E}" type="presParOf" srcId="{CFA2DE15-0569-49B3-907B-0D29E881126D}" destId="{59DBEEBD-3F87-49E7-89D2-D1300BC6F8AC}" srcOrd="3" destOrd="0" presId="urn:microsoft.com/office/officeart/2018/2/layout/IconLabelList"/>
    <dgm:cxn modelId="{3AF5A40F-88AD-4708-884B-0170A60D5BD9}" type="presParOf" srcId="{CFA2DE15-0569-49B3-907B-0D29E881126D}" destId="{A2D2381B-9C09-4B66-86BC-9736096DC56D}" srcOrd="4" destOrd="0" presId="urn:microsoft.com/office/officeart/2018/2/layout/IconLabelList"/>
    <dgm:cxn modelId="{6A821C1B-727F-4367-8C90-7CA1952B93D0}" type="presParOf" srcId="{A2D2381B-9C09-4B66-86BC-9736096DC56D}" destId="{59A2B8B4-6246-41C8-BFEC-BD6C0959915A}" srcOrd="0" destOrd="0" presId="urn:microsoft.com/office/officeart/2018/2/layout/IconLabelList"/>
    <dgm:cxn modelId="{1B7BEC17-9478-419E-B1CF-FC413B789929}" type="presParOf" srcId="{A2D2381B-9C09-4B66-86BC-9736096DC56D}" destId="{F7685A0A-EE1E-43E2-B6BD-D94782D951AF}" srcOrd="1" destOrd="0" presId="urn:microsoft.com/office/officeart/2018/2/layout/IconLabelList"/>
    <dgm:cxn modelId="{D03FFB83-048A-47C4-90AC-416180FF27C2}" type="presParOf" srcId="{A2D2381B-9C09-4B66-86BC-9736096DC56D}" destId="{4567C35B-79DC-41F4-A4C9-989CEA0A7D31}" srcOrd="2" destOrd="0" presId="urn:microsoft.com/office/officeart/2018/2/layout/IconLabelList"/>
    <dgm:cxn modelId="{065D86BC-66DC-40ED-B014-E696DD56D100}" type="presParOf" srcId="{CFA2DE15-0569-49B3-907B-0D29E881126D}" destId="{5558F326-A597-4869-911B-6BA70A4C192C}" srcOrd="5" destOrd="0" presId="urn:microsoft.com/office/officeart/2018/2/layout/IconLabelList"/>
    <dgm:cxn modelId="{81727495-CDA8-4116-87F6-FF3A6067F935}" type="presParOf" srcId="{CFA2DE15-0569-49B3-907B-0D29E881126D}" destId="{A03AC974-C5D7-450F-A9AF-874FC352AC76}" srcOrd="6" destOrd="0" presId="urn:microsoft.com/office/officeart/2018/2/layout/IconLabelList"/>
    <dgm:cxn modelId="{41B66F18-DB73-4D2C-897E-E9F7AE7E3B82}" type="presParOf" srcId="{A03AC974-C5D7-450F-A9AF-874FC352AC76}" destId="{87EA96F7-4609-481C-93ED-651A855409D5}" srcOrd="0" destOrd="0" presId="urn:microsoft.com/office/officeart/2018/2/layout/IconLabelList"/>
    <dgm:cxn modelId="{421076F7-2115-4A8D-A1BE-7A0E444F62A3}" type="presParOf" srcId="{A03AC974-C5D7-450F-A9AF-874FC352AC76}" destId="{A9368559-1DCC-4926-8806-89C60FB40199}" srcOrd="1" destOrd="0" presId="urn:microsoft.com/office/officeart/2018/2/layout/IconLabelList"/>
    <dgm:cxn modelId="{467B5582-00A0-4E4E-9D27-4EEAFFFDC5CE}" type="presParOf" srcId="{A03AC974-C5D7-450F-A9AF-874FC352AC76}" destId="{D868FBD3-FA58-4321-BE70-1730D9AA60CD}" srcOrd="2" destOrd="0" presId="urn:microsoft.com/office/officeart/2018/2/layout/IconLabelList"/>
    <dgm:cxn modelId="{F8BA54B8-851A-4D8D-8F89-6B653A3318C7}" type="presParOf" srcId="{CFA2DE15-0569-49B3-907B-0D29E881126D}" destId="{D523FB8D-80E7-4DFF-8C69-294DC1A44843}" srcOrd="7" destOrd="0" presId="urn:microsoft.com/office/officeart/2018/2/layout/IconLabelList"/>
    <dgm:cxn modelId="{05CEF803-492A-4C94-819E-D28EB5D3CD3F}" type="presParOf" srcId="{CFA2DE15-0569-49B3-907B-0D29E881126D}" destId="{835B2F60-66FC-4045-BA98-F24534850279}" srcOrd="8" destOrd="0" presId="urn:microsoft.com/office/officeart/2018/2/layout/IconLabelList"/>
    <dgm:cxn modelId="{40A7AFE1-5126-48B2-BE9E-AC343EBEF3D1}" type="presParOf" srcId="{835B2F60-66FC-4045-BA98-F24534850279}" destId="{63D46D1B-C6EC-4E3F-8AA5-2244F78D2ABD}" srcOrd="0" destOrd="0" presId="urn:microsoft.com/office/officeart/2018/2/layout/IconLabelList"/>
    <dgm:cxn modelId="{54AEE122-4C32-4552-8877-F07D66A909FA}" type="presParOf" srcId="{835B2F60-66FC-4045-BA98-F24534850279}" destId="{B499584B-7FCA-4638-A18C-A303C309677E}" srcOrd="1" destOrd="0" presId="urn:microsoft.com/office/officeart/2018/2/layout/IconLabelList"/>
    <dgm:cxn modelId="{6FC28BA1-69B9-4318-BD5E-D611004A9B8F}" type="presParOf" srcId="{835B2F60-66FC-4045-BA98-F24534850279}" destId="{BE0FD85D-2C9A-4362-B00D-B6CE2B2C721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F13D87-64B0-41AD-8624-57471FE85796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2F2A67E8-ACD9-4C73-881C-0F727D32AE95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Data Engineering</a:t>
          </a:r>
        </a:p>
      </dgm:t>
    </dgm:pt>
    <dgm:pt modelId="{A275FB55-100D-41BA-A526-40603876FD22}" type="parTrans" cxnId="{12FE6C09-00C6-4A02-B542-575FE8B0B255}">
      <dgm:prSet/>
      <dgm:spPr/>
      <dgm:t>
        <a:bodyPr/>
        <a:lstStyle/>
        <a:p>
          <a:endParaRPr lang="en-GB"/>
        </a:p>
      </dgm:t>
    </dgm:pt>
    <dgm:pt modelId="{7C0B296B-2A0D-4999-A0C4-2B03AA5E5374}" type="sibTrans" cxnId="{12FE6C09-00C6-4A02-B542-575FE8B0B255}">
      <dgm:prSet/>
      <dgm:spPr/>
      <dgm:t>
        <a:bodyPr/>
        <a:lstStyle/>
        <a:p>
          <a:endParaRPr lang="en-GB"/>
        </a:p>
      </dgm:t>
    </dgm:pt>
    <dgm:pt modelId="{35BB0A4F-EA77-413C-9E84-DEBFB93A1E88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1500" b="0" dirty="0"/>
            <a:t>Challenging real world data</a:t>
          </a:r>
          <a:endParaRPr lang="en-GB" sz="1500" b="0" dirty="0"/>
        </a:p>
      </dgm:t>
    </dgm:pt>
    <dgm:pt modelId="{D5ED6B98-9411-4F4F-8541-4763B0D1ABCB}" type="parTrans" cxnId="{FE6114DA-E6B4-465B-967B-43E233EA321A}">
      <dgm:prSet/>
      <dgm:spPr/>
      <dgm:t>
        <a:bodyPr/>
        <a:lstStyle/>
        <a:p>
          <a:endParaRPr lang="en-GB"/>
        </a:p>
      </dgm:t>
    </dgm:pt>
    <dgm:pt modelId="{68D557F7-03D8-49BF-88C8-BA7F7C13F7C3}" type="sibTrans" cxnId="{FE6114DA-E6B4-465B-967B-43E233EA321A}">
      <dgm:prSet/>
      <dgm:spPr/>
      <dgm:t>
        <a:bodyPr/>
        <a:lstStyle/>
        <a:p>
          <a:endParaRPr lang="en-GB"/>
        </a:p>
      </dgm:t>
    </dgm:pt>
    <dgm:pt modelId="{6685804A-377E-4143-859E-8D132C381ECF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New Features (e.g., Interactions, Formats)</a:t>
          </a:r>
        </a:p>
      </dgm:t>
    </dgm:pt>
    <dgm:pt modelId="{F5C6F6E8-45D3-4854-8B35-3294023BC47D}" type="parTrans" cxnId="{2115EB43-AED9-4C7C-93CF-B85E01E16247}">
      <dgm:prSet/>
      <dgm:spPr/>
      <dgm:t>
        <a:bodyPr/>
        <a:lstStyle/>
        <a:p>
          <a:endParaRPr lang="en-GB"/>
        </a:p>
      </dgm:t>
    </dgm:pt>
    <dgm:pt modelId="{BF8EC071-F2DF-44DA-A21B-1A8CE3A4C61B}" type="sibTrans" cxnId="{2115EB43-AED9-4C7C-93CF-B85E01E16247}">
      <dgm:prSet/>
      <dgm:spPr/>
      <dgm:t>
        <a:bodyPr/>
        <a:lstStyle/>
        <a:p>
          <a:endParaRPr lang="en-GB"/>
        </a:p>
      </dgm:t>
    </dgm:pt>
    <dgm:pt modelId="{8B6C3B02-9B97-4461-849D-8C27B7EC535B}">
      <dgm:prSet custT="1"/>
      <dgm:spPr>
        <a:solidFill>
          <a:schemeClr val="accent5">
            <a:lumMod val="50000"/>
          </a:schemeClr>
        </a:solidFill>
      </dgm:spPr>
      <dgm:t>
        <a:bodyPr/>
        <a:lstStyle/>
        <a:p>
          <a:r>
            <a:rPr lang="en-GB" sz="1800" dirty="0"/>
            <a:t>Exploratory Analysis</a:t>
          </a:r>
        </a:p>
      </dgm:t>
    </dgm:pt>
    <dgm:pt modelId="{50481D48-BE32-402B-B97D-BE0B16A178F3}" type="parTrans" cxnId="{02B59940-76D4-44CD-B093-5E255D8B8128}">
      <dgm:prSet/>
      <dgm:spPr/>
      <dgm:t>
        <a:bodyPr/>
        <a:lstStyle/>
        <a:p>
          <a:endParaRPr lang="en-GB"/>
        </a:p>
      </dgm:t>
    </dgm:pt>
    <dgm:pt modelId="{0362A28F-AA87-4D8E-9250-A7830272AD07}" type="sibTrans" cxnId="{02B59940-76D4-44CD-B093-5E255D8B8128}">
      <dgm:prSet/>
      <dgm:spPr/>
      <dgm:t>
        <a:bodyPr/>
        <a:lstStyle/>
        <a:p>
          <a:endParaRPr lang="en-GB"/>
        </a:p>
      </dgm:t>
    </dgm:pt>
    <dgm:pt modelId="{C80325A7-6A8F-44B1-B610-6BEE0FD37FF7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br>
            <a:rPr lang="en-US" sz="1500" kern="1200" dirty="0"/>
          </a:br>
          <a:endParaRPr lang="en-GB" sz="1500" kern="1200" dirty="0"/>
        </a:p>
      </dgm:t>
    </dgm:pt>
    <dgm:pt modelId="{08452F9F-4BD9-4B0C-B864-3DD8DC2A2AEE}" type="parTrans" cxnId="{E2A17C7E-3D95-41AA-9F9F-74B88C49C7E8}">
      <dgm:prSet/>
      <dgm:spPr/>
      <dgm:t>
        <a:bodyPr/>
        <a:lstStyle/>
        <a:p>
          <a:endParaRPr lang="en-GB"/>
        </a:p>
      </dgm:t>
    </dgm:pt>
    <dgm:pt modelId="{336CBB3D-D79F-42E7-9597-B23C06F58606}" type="sibTrans" cxnId="{E2A17C7E-3D95-41AA-9F9F-74B88C49C7E8}">
      <dgm:prSet/>
      <dgm:spPr/>
      <dgm:t>
        <a:bodyPr/>
        <a:lstStyle/>
        <a:p>
          <a:endParaRPr lang="en-GB"/>
        </a:p>
      </dgm:t>
    </dgm:pt>
    <dgm:pt modelId="{798C2C10-662F-4E75-A5B5-D79146484269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</dgm:t>
    </dgm:pt>
    <dgm:pt modelId="{763728CA-2134-4677-A743-846554DEF5FC}" type="parTrans" cxnId="{E93DC782-50DD-4B43-A967-4FD2741569FB}">
      <dgm:prSet/>
      <dgm:spPr/>
      <dgm:t>
        <a:bodyPr/>
        <a:lstStyle/>
        <a:p>
          <a:endParaRPr lang="en-GB"/>
        </a:p>
      </dgm:t>
    </dgm:pt>
    <dgm:pt modelId="{062818EF-31D5-4693-AAFD-92006D82850B}" type="sibTrans" cxnId="{E93DC782-50DD-4B43-A967-4FD2741569FB}">
      <dgm:prSet/>
      <dgm:spPr/>
      <dgm:t>
        <a:bodyPr/>
        <a:lstStyle/>
        <a:p>
          <a:endParaRPr lang="en-GB"/>
        </a:p>
      </dgm:t>
    </dgm:pt>
    <dgm:pt modelId="{12639EF0-BB1A-4373-80A6-973906E4B20F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</dgm:t>
    </dgm:pt>
    <dgm:pt modelId="{34C1F691-A67B-43DA-AE71-CA2D5125F70E}" type="parTrans" cxnId="{420B62D3-FE4F-40A0-B131-C8DF3D0C141F}">
      <dgm:prSet/>
      <dgm:spPr/>
      <dgm:t>
        <a:bodyPr/>
        <a:lstStyle/>
        <a:p>
          <a:endParaRPr lang="en-GB"/>
        </a:p>
      </dgm:t>
    </dgm:pt>
    <dgm:pt modelId="{39822BD4-F533-401C-B29B-EA82A20EF2F0}" type="sibTrans" cxnId="{420B62D3-FE4F-40A0-B131-C8DF3D0C141F}">
      <dgm:prSet/>
      <dgm:spPr/>
      <dgm:t>
        <a:bodyPr/>
        <a:lstStyle/>
        <a:p>
          <a:endParaRPr lang="en-GB"/>
        </a:p>
      </dgm:t>
    </dgm:pt>
    <dgm:pt modelId="{4A8BA3F3-42C0-41EA-917D-9DDF709CADEA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u="sng" kern="1200" dirty="0">
              <a:sym typeface="Wingdings" panose="05000000000000000000" pitchFamily="2" charset="2"/>
            </a:rPr>
            <a:t>Heatmaps, VIF </a:t>
          </a:r>
          <a:r>
            <a:rPr lang="en-GB" sz="1500" u="sng" kern="1200" dirty="0"/>
            <a:t>≥10</a:t>
          </a:r>
        </a:p>
      </dgm:t>
    </dgm:pt>
    <dgm:pt modelId="{1E327B02-6FCB-40C3-BF05-CDA992C2D02D}" type="parTrans" cxnId="{81F09BB9-F0A8-4D26-9C8C-78D3DDFF58E4}">
      <dgm:prSet/>
      <dgm:spPr/>
      <dgm:t>
        <a:bodyPr/>
        <a:lstStyle/>
        <a:p>
          <a:endParaRPr lang="en-GB"/>
        </a:p>
      </dgm:t>
    </dgm:pt>
    <dgm:pt modelId="{E09862E0-6EE9-45CD-BBC4-0365F337E1F9}" type="sibTrans" cxnId="{81F09BB9-F0A8-4D26-9C8C-78D3DDFF58E4}">
      <dgm:prSet/>
      <dgm:spPr/>
      <dgm:t>
        <a:bodyPr/>
        <a:lstStyle/>
        <a:p>
          <a:endParaRPr lang="en-GB"/>
        </a:p>
      </dgm:t>
    </dgm:pt>
    <dgm:pt modelId="{A721B64A-F78D-438C-BD03-ED79A0A4204A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</dgm:t>
    </dgm:pt>
    <dgm:pt modelId="{78C91161-6F7F-4398-B89C-D80D89BC273D}" type="parTrans" cxnId="{1F480846-2667-4241-9F3B-7AF9FCFFF1F3}">
      <dgm:prSet/>
      <dgm:spPr/>
      <dgm:t>
        <a:bodyPr/>
        <a:lstStyle/>
        <a:p>
          <a:endParaRPr lang="en-GB"/>
        </a:p>
      </dgm:t>
    </dgm:pt>
    <dgm:pt modelId="{94D94A6E-FBF5-4F36-B66B-5C7A69F3C861}" type="sibTrans" cxnId="{1F480846-2667-4241-9F3B-7AF9FCFFF1F3}">
      <dgm:prSet/>
      <dgm:spPr/>
      <dgm:t>
        <a:bodyPr/>
        <a:lstStyle/>
        <a:p>
          <a:endParaRPr lang="en-GB"/>
        </a:p>
      </dgm:t>
    </dgm:pt>
    <dgm:pt modelId="{2F7A7128-86C4-4AA6-BDD2-C0F06335F019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</dgm:t>
    </dgm:pt>
    <dgm:pt modelId="{D99736A6-12EE-4BAE-87C7-CBC8D7CA2323}" type="parTrans" cxnId="{C00F8421-F747-485C-B1B5-20EB97E9EFA4}">
      <dgm:prSet/>
      <dgm:spPr/>
      <dgm:t>
        <a:bodyPr/>
        <a:lstStyle/>
        <a:p>
          <a:endParaRPr lang="en-GB"/>
        </a:p>
      </dgm:t>
    </dgm:pt>
    <dgm:pt modelId="{80D44254-ED36-4ABC-9111-50A9B5934201}" type="sibTrans" cxnId="{C00F8421-F747-485C-B1B5-20EB97E9EFA4}">
      <dgm:prSet/>
      <dgm:spPr/>
      <dgm:t>
        <a:bodyPr/>
        <a:lstStyle/>
        <a:p>
          <a:endParaRPr lang="en-GB"/>
        </a:p>
      </dgm:t>
    </dgm:pt>
    <dgm:pt modelId="{3CF2DE67-AA0D-447F-AC31-130CB5E04C56}">
      <dgm:prSet custT="1"/>
      <dgm:spPr>
        <a:ln>
          <a:noFill/>
        </a:ln>
      </dgm:spPr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GB" sz="1500" dirty="0"/>
            <a:t>Missing: </a:t>
          </a:r>
          <a:r>
            <a:rPr lang="en-US" sz="1500" dirty="0"/>
            <a:t>csv+bd, RegEx, Merge levels, Drop, Imputation</a:t>
          </a:r>
          <a:endParaRPr lang="en-GB" sz="1500" dirty="0"/>
        </a:p>
      </dgm:t>
    </dgm:pt>
    <dgm:pt modelId="{E794BAA1-87A0-45CC-803A-CA4285B90844}" type="parTrans" cxnId="{E6674B4B-0059-4698-B67E-3BDCC9F72950}">
      <dgm:prSet/>
      <dgm:spPr/>
      <dgm:t>
        <a:bodyPr/>
        <a:lstStyle/>
        <a:p>
          <a:endParaRPr lang="en-GB"/>
        </a:p>
      </dgm:t>
    </dgm:pt>
    <dgm:pt modelId="{9668A633-4F83-4818-8D18-AB26C3CDBAFA}" type="sibTrans" cxnId="{E6674B4B-0059-4698-B67E-3BDCC9F72950}">
      <dgm:prSet/>
      <dgm:spPr/>
      <dgm:t>
        <a:bodyPr/>
        <a:lstStyle/>
        <a:p>
          <a:endParaRPr lang="en-GB"/>
        </a:p>
      </dgm:t>
    </dgm:pt>
    <dgm:pt modelId="{7276CFAD-4AB0-4615-B7B2-34C290675CFD}">
      <dgm:prSet custT="1"/>
      <dgm:spPr/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</dgm:t>
    </dgm:pt>
    <dgm:pt modelId="{0D8CAB63-48AE-4EBF-A04A-A0513444996E}" type="parTrans" cxnId="{F99DEAD6-D354-4C2E-A912-E72BD9E0D9A7}">
      <dgm:prSet/>
      <dgm:spPr/>
      <dgm:t>
        <a:bodyPr/>
        <a:lstStyle/>
        <a:p>
          <a:endParaRPr lang="en-GB"/>
        </a:p>
      </dgm:t>
    </dgm:pt>
    <dgm:pt modelId="{2F1A55C3-8659-48CC-8E22-711018F2B25A}" type="sibTrans" cxnId="{F99DEAD6-D354-4C2E-A912-E72BD9E0D9A7}">
      <dgm:prSet/>
      <dgm:spPr/>
      <dgm:t>
        <a:bodyPr/>
        <a:lstStyle/>
        <a:p>
          <a:endParaRPr lang="en-GB"/>
        </a:p>
      </dgm:t>
    </dgm:pt>
    <dgm:pt modelId="{B89C6407-2BE2-4480-B463-96750AC78FFE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</dgm:t>
    </dgm:pt>
    <dgm:pt modelId="{67F4B6E3-C4CE-4236-BD5B-9D5CFC58F985}" type="parTrans" cxnId="{BFB34CAA-4FCC-4519-A43A-F733455A217C}">
      <dgm:prSet/>
      <dgm:spPr/>
      <dgm:t>
        <a:bodyPr/>
        <a:lstStyle/>
        <a:p>
          <a:endParaRPr lang="en-GB"/>
        </a:p>
      </dgm:t>
    </dgm:pt>
    <dgm:pt modelId="{25E06677-B8A3-440C-80A8-254EF34CE9DE}" type="sibTrans" cxnId="{BFB34CAA-4FCC-4519-A43A-F733455A217C}">
      <dgm:prSet/>
      <dgm:spPr/>
      <dgm:t>
        <a:bodyPr/>
        <a:lstStyle/>
        <a:p>
          <a:endParaRPr lang="en-GB"/>
        </a:p>
      </dgm:t>
    </dgm:pt>
    <dgm:pt modelId="{26DA9842-ADC7-46F7-9EE2-32CF7183EBB1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kern="1200" dirty="0"/>
        </a:p>
      </dgm:t>
    </dgm:pt>
    <dgm:pt modelId="{0C85E99A-CEB6-449F-B829-A56B3491545C}" type="parTrans" cxnId="{D2E888B8-6F96-4038-A5BB-B685E8DB8386}">
      <dgm:prSet/>
      <dgm:spPr/>
      <dgm:t>
        <a:bodyPr/>
        <a:lstStyle/>
        <a:p>
          <a:endParaRPr lang="en-GB"/>
        </a:p>
      </dgm:t>
    </dgm:pt>
    <dgm:pt modelId="{5E2DCDC2-3C52-4A98-979C-DFEDC2223258}" type="sibTrans" cxnId="{D2E888B8-6F96-4038-A5BB-B685E8DB8386}">
      <dgm:prSet/>
      <dgm:spPr/>
      <dgm:t>
        <a:bodyPr/>
        <a:lstStyle/>
        <a:p>
          <a:endParaRPr lang="en-GB"/>
        </a:p>
      </dgm:t>
    </dgm:pt>
    <dgm:pt modelId="{736A7D57-B0F2-4BAB-B205-1C2C3B99A6A3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Merge levels </a:t>
          </a:r>
          <a:r>
            <a:rPr lang="en-GB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 </a:t>
          </a:r>
          <a:r>
            <a:rPr lang="en-US" sz="1500" b="0" kern="1200" dirty="0"/>
            <a:t>rows dropped</a:t>
          </a:r>
          <a:endParaRPr lang="en-GB" sz="1500" kern="1200" dirty="0"/>
        </a:p>
      </dgm:t>
    </dgm:pt>
    <dgm:pt modelId="{8713C7AD-357C-4BD1-A70D-C92712260DA4}" type="parTrans" cxnId="{FA4D4F92-1F0C-4ADA-B59C-2DE097BC5208}">
      <dgm:prSet/>
      <dgm:spPr/>
      <dgm:t>
        <a:bodyPr/>
        <a:lstStyle/>
        <a:p>
          <a:endParaRPr lang="en-GB"/>
        </a:p>
      </dgm:t>
    </dgm:pt>
    <dgm:pt modelId="{F6AFAD1D-E444-452A-9CDB-622B62E1A36A}" type="sibTrans" cxnId="{FA4D4F92-1F0C-4ADA-B59C-2DE097BC5208}">
      <dgm:prSet/>
      <dgm:spPr/>
      <dgm:t>
        <a:bodyPr/>
        <a:lstStyle/>
        <a:p>
          <a:endParaRPr lang="en-GB"/>
        </a:p>
      </dgm:t>
    </dgm:pt>
    <dgm:pt modelId="{0A08F9B5-78CA-4B05-B1C4-3862CF8C5E43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Real world skewed data 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  <a:sym typeface="Wingdings" panose="05000000000000000000" pitchFamily="2" charset="2"/>
            </a:rPr>
            <a:t>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 Log scale</a:t>
          </a:r>
          <a:endParaRPr lang="en-GB" sz="1500" kern="1200" dirty="0"/>
        </a:p>
      </dgm:t>
    </dgm:pt>
    <dgm:pt modelId="{4F297EE7-D4A0-4B30-BAB1-0C70ADEB5254}" type="parTrans" cxnId="{76626F88-35A2-4265-9103-3E3162D5BB2A}">
      <dgm:prSet/>
      <dgm:spPr/>
    </dgm:pt>
    <dgm:pt modelId="{C02A50F2-FEA2-46A7-B375-F6405E67E575}" type="sibTrans" cxnId="{76626F88-35A2-4265-9103-3E3162D5BB2A}">
      <dgm:prSet/>
      <dgm:spPr/>
    </dgm:pt>
    <dgm:pt modelId="{7B69C202-376B-402A-BE67-3CEC0D34B221}">
      <dgm:prSet custT="1"/>
      <dgm:spPr>
        <a:ln>
          <a:noFill/>
        </a:ln>
      </dgm:spPr>
      <dgm:t>
        <a:bodyPr/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latin typeface="+mn-lt"/>
            </a:rPr>
            <a:t>F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eature Selection</a:t>
          </a:r>
          <a:endParaRPr lang="en-GB" sz="1500" kern="1200" dirty="0"/>
        </a:p>
      </dgm:t>
    </dgm:pt>
    <dgm:pt modelId="{5C5DC730-FA8C-4D96-A6DA-BD93B211AFCD}" type="parTrans" cxnId="{475CEFC9-32E9-401E-815B-DB5B027BFC8C}">
      <dgm:prSet/>
      <dgm:spPr/>
    </dgm:pt>
    <dgm:pt modelId="{C1E814EC-51D1-40E5-A36C-D12E45272CF5}" type="sibTrans" cxnId="{475CEFC9-32E9-401E-815B-DB5B027BFC8C}">
      <dgm:prSet/>
      <dgm:spPr/>
    </dgm:pt>
    <dgm:pt modelId="{8C50726C-E90C-4FFA-B6A0-2ED37CF63F64}" type="pres">
      <dgm:prSet presAssocID="{F0F13D87-64B0-41AD-8624-57471FE85796}" presName="Name0" presStyleCnt="0">
        <dgm:presLayoutVars>
          <dgm:dir/>
          <dgm:animLvl val="lvl"/>
          <dgm:resizeHandles val="exact"/>
        </dgm:presLayoutVars>
      </dgm:prSet>
      <dgm:spPr/>
    </dgm:pt>
    <dgm:pt modelId="{796ABD26-0390-4B39-A62D-E35ED7901557}" type="pres">
      <dgm:prSet presAssocID="{2F2A67E8-ACD9-4C73-881C-0F727D32AE95}" presName="linNode" presStyleCnt="0"/>
      <dgm:spPr/>
    </dgm:pt>
    <dgm:pt modelId="{20EFAA17-3592-4F78-AEAE-2CD118F957A5}" type="pres">
      <dgm:prSet presAssocID="{2F2A67E8-ACD9-4C73-881C-0F727D32AE95}" presName="parentText" presStyleLbl="node1" presStyleIdx="0" presStyleCnt="2" custScaleY="181497">
        <dgm:presLayoutVars>
          <dgm:chMax val="1"/>
          <dgm:bulletEnabled val="1"/>
        </dgm:presLayoutVars>
      </dgm:prSet>
      <dgm:spPr/>
    </dgm:pt>
    <dgm:pt modelId="{EFC1B403-9E6E-4411-9B69-79A1584C7937}" type="pres">
      <dgm:prSet presAssocID="{2F2A67E8-ACD9-4C73-881C-0F727D32AE95}" presName="descendantText" presStyleLbl="alignAccFollowNode1" presStyleIdx="0" presStyleCnt="2" custScaleX="139293" custScaleY="230636">
        <dgm:presLayoutVars>
          <dgm:bulletEnabled val="1"/>
        </dgm:presLayoutVars>
      </dgm:prSet>
      <dgm:spPr/>
    </dgm:pt>
    <dgm:pt modelId="{B2A8BB8D-8794-49FC-B132-74637F2E5B23}" type="pres">
      <dgm:prSet presAssocID="{7C0B296B-2A0D-4999-A0C4-2B03AA5E5374}" presName="sp" presStyleCnt="0"/>
      <dgm:spPr/>
    </dgm:pt>
    <dgm:pt modelId="{39BA3085-98BD-4984-9C38-AFDA18857722}" type="pres">
      <dgm:prSet presAssocID="{8B6C3B02-9B97-4461-849D-8C27B7EC535B}" presName="linNode" presStyleCnt="0"/>
      <dgm:spPr/>
    </dgm:pt>
    <dgm:pt modelId="{9E95D006-3A52-4C9F-915C-CE452CD5CD7D}" type="pres">
      <dgm:prSet presAssocID="{8B6C3B02-9B97-4461-849D-8C27B7EC535B}" presName="parentText" presStyleLbl="node1" presStyleIdx="1" presStyleCnt="2" custScaleY="543221">
        <dgm:presLayoutVars>
          <dgm:chMax val="1"/>
          <dgm:bulletEnabled val="1"/>
        </dgm:presLayoutVars>
      </dgm:prSet>
      <dgm:spPr/>
    </dgm:pt>
    <dgm:pt modelId="{4E062ED7-C8B7-4731-A7F1-BE128EC98711}" type="pres">
      <dgm:prSet presAssocID="{8B6C3B02-9B97-4461-849D-8C27B7EC535B}" presName="descendantText" presStyleLbl="alignAccFollowNode1" presStyleIdx="1" presStyleCnt="2" custScaleX="139293" custScaleY="682992">
        <dgm:presLayoutVars>
          <dgm:bulletEnabled val="1"/>
        </dgm:presLayoutVars>
      </dgm:prSet>
      <dgm:spPr/>
    </dgm:pt>
  </dgm:ptLst>
  <dgm:cxnLst>
    <dgm:cxn modelId="{14E21D00-452E-4C18-9C41-7960E487344B}" type="presOf" srcId="{F0F13D87-64B0-41AD-8624-57471FE85796}" destId="{8C50726C-E90C-4FFA-B6A0-2ED37CF63F64}" srcOrd="0" destOrd="0" presId="urn:microsoft.com/office/officeart/2005/8/layout/vList5"/>
    <dgm:cxn modelId="{12FE6C09-00C6-4A02-B542-575FE8B0B255}" srcId="{F0F13D87-64B0-41AD-8624-57471FE85796}" destId="{2F2A67E8-ACD9-4C73-881C-0F727D32AE95}" srcOrd="0" destOrd="0" parTransId="{A275FB55-100D-41BA-A526-40603876FD22}" sibTransId="{7C0B296B-2A0D-4999-A0C4-2B03AA5E5374}"/>
    <dgm:cxn modelId="{C00F8421-F747-485C-B1B5-20EB97E9EFA4}" srcId="{8B6C3B02-9B97-4461-849D-8C27B7EC535B}" destId="{2F7A7128-86C4-4AA6-BDD2-C0F06335F019}" srcOrd="7" destOrd="0" parTransId="{D99736A6-12EE-4BAE-87C7-CBC8D7CA2323}" sibTransId="{80D44254-ED36-4ABC-9111-50A9B5934201}"/>
    <dgm:cxn modelId="{EE732523-ACD9-4AD5-A411-721BE0F6D66C}" type="presOf" srcId="{A721B64A-F78D-438C-BD03-ED79A0A4204A}" destId="{4E062ED7-C8B7-4731-A7F1-BE128EC98711}" srcOrd="0" destOrd="5" presId="urn:microsoft.com/office/officeart/2005/8/layout/vList5"/>
    <dgm:cxn modelId="{74145A35-0AE2-4306-952B-41C0845ACFFA}" type="presOf" srcId="{7B69C202-376B-402A-BE67-3CEC0D34B221}" destId="{4E062ED7-C8B7-4731-A7F1-BE128EC98711}" srcOrd="0" destOrd="11" presId="urn:microsoft.com/office/officeart/2005/8/layout/vList5"/>
    <dgm:cxn modelId="{C69CD839-54E2-4FB0-AE27-35B575282CE0}" type="presOf" srcId="{26DA9842-ADC7-46F7-9EE2-32CF7183EBB1}" destId="{4E062ED7-C8B7-4731-A7F1-BE128EC98711}" srcOrd="0" destOrd="8" presId="urn:microsoft.com/office/officeart/2005/8/layout/vList5"/>
    <dgm:cxn modelId="{02B59940-76D4-44CD-B093-5E255D8B8128}" srcId="{F0F13D87-64B0-41AD-8624-57471FE85796}" destId="{8B6C3B02-9B97-4461-849D-8C27B7EC535B}" srcOrd="1" destOrd="0" parTransId="{50481D48-BE32-402B-B97D-BE0B16A178F3}" sibTransId="{0362A28F-AA87-4D8E-9250-A7830272AD07}"/>
    <dgm:cxn modelId="{2115EB43-AED9-4C7C-93CF-B85E01E16247}" srcId="{2F2A67E8-ACD9-4C73-881C-0F727D32AE95}" destId="{6685804A-377E-4143-859E-8D132C381ECF}" srcOrd="2" destOrd="0" parTransId="{F5C6F6E8-45D3-4854-8B35-3294023BC47D}" sibTransId="{BF8EC071-F2DF-44DA-A21B-1A8CE3A4C61B}"/>
    <dgm:cxn modelId="{1F480846-2667-4241-9F3B-7AF9FCFFF1F3}" srcId="{8B6C3B02-9B97-4461-849D-8C27B7EC535B}" destId="{A721B64A-F78D-438C-BD03-ED79A0A4204A}" srcOrd="5" destOrd="0" parTransId="{78C91161-6F7F-4398-B89C-D80D89BC273D}" sibTransId="{94D94A6E-FBF5-4F36-B66B-5C7A69F3C861}"/>
    <dgm:cxn modelId="{28473F47-0A74-45A4-B3B2-1FCBDE4CFCA0}" type="presOf" srcId="{736A7D57-B0F2-4BAB-B205-1C2C3B99A6A3}" destId="{4E062ED7-C8B7-4731-A7F1-BE128EC98711}" srcOrd="0" destOrd="9" presId="urn:microsoft.com/office/officeart/2005/8/layout/vList5"/>
    <dgm:cxn modelId="{E6674B4B-0059-4698-B67E-3BDCC9F72950}" srcId="{2F2A67E8-ACD9-4C73-881C-0F727D32AE95}" destId="{3CF2DE67-AA0D-447F-AC31-130CB5E04C56}" srcOrd="1" destOrd="0" parTransId="{E794BAA1-87A0-45CC-803A-CA4285B90844}" sibTransId="{9668A633-4F83-4818-8D18-AB26C3CDBAFA}"/>
    <dgm:cxn modelId="{608C324E-7E80-4BF4-8A54-C2C2D7187346}" type="presOf" srcId="{6685804A-377E-4143-859E-8D132C381ECF}" destId="{EFC1B403-9E6E-4411-9B69-79A1584C7937}" srcOrd="0" destOrd="2" presId="urn:microsoft.com/office/officeart/2005/8/layout/vList5"/>
    <dgm:cxn modelId="{454DAC6E-6DA6-4456-AAAB-C6BF68406A55}" type="presOf" srcId="{35BB0A4F-EA77-413C-9E84-DEBFB93A1E88}" destId="{EFC1B403-9E6E-4411-9B69-79A1584C7937}" srcOrd="0" destOrd="0" presId="urn:microsoft.com/office/officeart/2005/8/layout/vList5"/>
    <dgm:cxn modelId="{7BF0174F-4C35-49BA-9B87-409C838CA9D4}" type="presOf" srcId="{C80325A7-6A8F-44B1-B610-6BEE0FD37FF7}" destId="{4E062ED7-C8B7-4731-A7F1-BE128EC98711}" srcOrd="0" destOrd="0" presId="urn:microsoft.com/office/officeart/2005/8/layout/vList5"/>
    <dgm:cxn modelId="{E8435856-52A4-4837-AFEB-C91AB4BC5B44}" type="presOf" srcId="{8B6C3B02-9B97-4461-849D-8C27B7EC535B}" destId="{9E95D006-3A52-4C9F-915C-CE452CD5CD7D}" srcOrd="0" destOrd="0" presId="urn:microsoft.com/office/officeart/2005/8/layout/vList5"/>
    <dgm:cxn modelId="{D4512F7A-70D2-4B0C-9F02-428A14F88DAB}" type="presOf" srcId="{3CF2DE67-AA0D-447F-AC31-130CB5E04C56}" destId="{EFC1B403-9E6E-4411-9B69-79A1584C7937}" srcOrd="0" destOrd="1" presId="urn:microsoft.com/office/officeart/2005/8/layout/vList5"/>
    <dgm:cxn modelId="{E2A17C7E-3D95-41AA-9F9F-74B88C49C7E8}" srcId="{8B6C3B02-9B97-4461-849D-8C27B7EC535B}" destId="{C80325A7-6A8F-44B1-B610-6BEE0FD37FF7}" srcOrd="0" destOrd="0" parTransId="{08452F9F-4BD9-4B0C-B864-3DD8DC2A2AEE}" sibTransId="{336CBB3D-D79F-42E7-9597-B23C06F58606}"/>
    <dgm:cxn modelId="{E93DC782-50DD-4B43-A967-4FD2741569FB}" srcId="{8B6C3B02-9B97-4461-849D-8C27B7EC535B}" destId="{798C2C10-662F-4E75-A5B5-D79146484269}" srcOrd="2" destOrd="0" parTransId="{763728CA-2134-4677-A743-846554DEF5FC}" sibTransId="{062818EF-31D5-4693-AAFD-92006D82850B}"/>
    <dgm:cxn modelId="{76626F88-35A2-4265-9103-3E3162D5BB2A}" srcId="{8B6C3B02-9B97-4461-849D-8C27B7EC535B}" destId="{0A08F9B5-78CA-4B05-B1C4-3862CF8C5E43}" srcOrd="10" destOrd="0" parTransId="{4F297EE7-D4A0-4B30-BAB1-0C70ADEB5254}" sibTransId="{C02A50F2-FEA2-46A7-B375-F6405E67E575}"/>
    <dgm:cxn modelId="{6C6FC389-867B-4E86-A3B1-05298DAC166B}" type="presOf" srcId="{798C2C10-662F-4E75-A5B5-D79146484269}" destId="{4E062ED7-C8B7-4731-A7F1-BE128EC98711}" srcOrd="0" destOrd="2" presId="urn:microsoft.com/office/officeart/2005/8/layout/vList5"/>
    <dgm:cxn modelId="{FA4D4F92-1F0C-4ADA-B59C-2DE097BC5208}" srcId="{8B6C3B02-9B97-4461-849D-8C27B7EC535B}" destId="{736A7D57-B0F2-4BAB-B205-1C2C3B99A6A3}" srcOrd="9" destOrd="0" parTransId="{8713C7AD-357C-4BD1-A70D-C92712260DA4}" sibTransId="{F6AFAD1D-E444-452A-9CDB-622B62E1A36A}"/>
    <dgm:cxn modelId="{BFB34CAA-4FCC-4519-A43A-F733455A217C}" srcId="{8B6C3B02-9B97-4461-849D-8C27B7EC535B}" destId="{B89C6407-2BE2-4480-B463-96750AC78FFE}" srcOrd="1" destOrd="0" parTransId="{67F4B6E3-C4CE-4236-BD5B-9D5CFC58F985}" sibTransId="{25E06677-B8A3-440C-80A8-254EF34CE9DE}"/>
    <dgm:cxn modelId="{D2E888B8-6F96-4038-A5BB-B685E8DB8386}" srcId="{8B6C3B02-9B97-4461-849D-8C27B7EC535B}" destId="{26DA9842-ADC7-46F7-9EE2-32CF7183EBB1}" srcOrd="8" destOrd="0" parTransId="{0C85E99A-CEB6-449F-B829-A56B3491545C}" sibTransId="{5E2DCDC2-3C52-4A98-979C-DFEDC2223258}"/>
    <dgm:cxn modelId="{81F09BB9-F0A8-4D26-9C8C-78D3DDFF58E4}" srcId="{8B6C3B02-9B97-4461-849D-8C27B7EC535B}" destId="{4A8BA3F3-42C0-41EA-917D-9DDF709CADEA}" srcOrd="6" destOrd="0" parTransId="{1E327B02-6FCB-40C3-BF05-CDA992C2D02D}" sibTransId="{E09862E0-6EE9-45CD-BBC4-0365F337E1F9}"/>
    <dgm:cxn modelId="{483BF8C4-DBC4-4E2A-B0F4-02F0FF1B5C8E}" type="presOf" srcId="{4A8BA3F3-42C0-41EA-917D-9DDF709CADEA}" destId="{4E062ED7-C8B7-4731-A7F1-BE128EC98711}" srcOrd="0" destOrd="6" presId="urn:microsoft.com/office/officeart/2005/8/layout/vList5"/>
    <dgm:cxn modelId="{475CEFC9-32E9-401E-815B-DB5B027BFC8C}" srcId="{8B6C3B02-9B97-4461-849D-8C27B7EC535B}" destId="{7B69C202-376B-402A-BE67-3CEC0D34B221}" srcOrd="11" destOrd="0" parTransId="{5C5DC730-FA8C-4D96-A6DA-BD93B211AFCD}" sibTransId="{C1E814EC-51D1-40E5-A36C-D12E45272CF5}"/>
    <dgm:cxn modelId="{420B62D3-FE4F-40A0-B131-C8DF3D0C141F}" srcId="{8B6C3B02-9B97-4461-849D-8C27B7EC535B}" destId="{12639EF0-BB1A-4373-80A6-973906E4B20F}" srcOrd="3" destOrd="0" parTransId="{34C1F691-A67B-43DA-AE71-CA2D5125F70E}" sibTransId="{39822BD4-F533-401C-B29B-EA82A20EF2F0}"/>
    <dgm:cxn modelId="{961737D5-6121-4BE4-BB5F-0CD5CF455CFF}" type="presOf" srcId="{7276CFAD-4AB0-4615-B7B2-34C290675CFD}" destId="{4E062ED7-C8B7-4731-A7F1-BE128EC98711}" srcOrd="0" destOrd="4" presId="urn:microsoft.com/office/officeart/2005/8/layout/vList5"/>
    <dgm:cxn modelId="{F99DEAD6-D354-4C2E-A912-E72BD9E0D9A7}" srcId="{8B6C3B02-9B97-4461-849D-8C27B7EC535B}" destId="{7276CFAD-4AB0-4615-B7B2-34C290675CFD}" srcOrd="4" destOrd="0" parTransId="{0D8CAB63-48AE-4EBF-A04A-A0513444996E}" sibTransId="{2F1A55C3-8659-48CC-8E22-711018F2B25A}"/>
    <dgm:cxn modelId="{FE6114DA-E6B4-465B-967B-43E233EA321A}" srcId="{2F2A67E8-ACD9-4C73-881C-0F727D32AE95}" destId="{35BB0A4F-EA77-413C-9E84-DEBFB93A1E88}" srcOrd="0" destOrd="0" parTransId="{D5ED6B98-9411-4F4F-8541-4763B0D1ABCB}" sibTransId="{68D557F7-03D8-49BF-88C8-BA7F7C13F7C3}"/>
    <dgm:cxn modelId="{9DDA48DA-3C17-4B15-861D-9FB9429F1310}" type="presOf" srcId="{12639EF0-BB1A-4373-80A6-973906E4B20F}" destId="{4E062ED7-C8B7-4731-A7F1-BE128EC98711}" srcOrd="0" destOrd="3" presId="urn:microsoft.com/office/officeart/2005/8/layout/vList5"/>
    <dgm:cxn modelId="{3CD1C0E7-01F4-4BE9-9ACB-DCCC1007E3E5}" type="presOf" srcId="{B89C6407-2BE2-4480-B463-96750AC78FFE}" destId="{4E062ED7-C8B7-4731-A7F1-BE128EC98711}" srcOrd="0" destOrd="1" presId="urn:microsoft.com/office/officeart/2005/8/layout/vList5"/>
    <dgm:cxn modelId="{F67385E8-F86D-47CC-B9CA-87AC4AF1BF40}" type="presOf" srcId="{0A08F9B5-78CA-4B05-B1C4-3862CF8C5E43}" destId="{4E062ED7-C8B7-4731-A7F1-BE128EC98711}" srcOrd="0" destOrd="10" presId="urn:microsoft.com/office/officeart/2005/8/layout/vList5"/>
    <dgm:cxn modelId="{E1987AED-FAC2-4A88-8949-016BDBE1E577}" type="presOf" srcId="{2F2A67E8-ACD9-4C73-881C-0F727D32AE95}" destId="{20EFAA17-3592-4F78-AEAE-2CD118F957A5}" srcOrd="0" destOrd="0" presId="urn:microsoft.com/office/officeart/2005/8/layout/vList5"/>
    <dgm:cxn modelId="{CB4329F8-377A-4878-B985-8CD9D1BDC248}" type="presOf" srcId="{2F7A7128-86C4-4AA6-BDD2-C0F06335F019}" destId="{4E062ED7-C8B7-4731-A7F1-BE128EC98711}" srcOrd="0" destOrd="7" presId="urn:microsoft.com/office/officeart/2005/8/layout/vList5"/>
    <dgm:cxn modelId="{0898E643-84BC-4444-98F5-10F22C018DA9}" type="presParOf" srcId="{8C50726C-E90C-4FFA-B6A0-2ED37CF63F64}" destId="{796ABD26-0390-4B39-A62D-E35ED7901557}" srcOrd="0" destOrd="0" presId="urn:microsoft.com/office/officeart/2005/8/layout/vList5"/>
    <dgm:cxn modelId="{A671792A-35BA-44B2-8D4C-47463C93833A}" type="presParOf" srcId="{796ABD26-0390-4B39-A62D-E35ED7901557}" destId="{20EFAA17-3592-4F78-AEAE-2CD118F957A5}" srcOrd="0" destOrd="0" presId="urn:microsoft.com/office/officeart/2005/8/layout/vList5"/>
    <dgm:cxn modelId="{A8B88065-7789-42A7-A8DD-C9A8EEC873E4}" type="presParOf" srcId="{796ABD26-0390-4B39-A62D-E35ED7901557}" destId="{EFC1B403-9E6E-4411-9B69-79A1584C7937}" srcOrd="1" destOrd="0" presId="urn:microsoft.com/office/officeart/2005/8/layout/vList5"/>
    <dgm:cxn modelId="{B9547007-A460-4114-B49B-50BE53B726D4}" type="presParOf" srcId="{8C50726C-E90C-4FFA-B6A0-2ED37CF63F64}" destId="{B2A8BB8D-8794-49FC-B132-74637F2E5B23}" srcOrd="1" destOrd="0" presId="urn:microsoft.com/office/officeart/2005/8/layout/vList5"/>
    <dgm:cxn modelId="{7D8A0A3A-AE05-450B-89F7-9193E0C122F5}" type="presParOf" srcId="{8C50726C-E90C-4FFA-B6A0-2ED37CF63F64}" destId="{39BA3085-98BD-4984-9C38-AFDA18857722}" srcOrd="2" destOrd="0" presId="urn:microsoft.com/office/officeart/2005/8/layout/vList5"/>
    <dgm:cxn modelId="{290D0EFF-5378-402A-88A3-27ECFEB8310A}" type="presParOf" srcId="{39BA3085-98BD-4984-9C38-AFDA18857722}" destId="{9E95D006-3A52-4C9F-915C-CE452CD5CD7D}" srcOrd="0" destOrd="0" presId="urn:microsoft.com/office/officeart/2005/8/layout/vList5"/>
    <dgm:cxn modelId="{A2AAB46C-2AF6-40F3-8AF2-8101114694BD}" type="presParOf" srcId="{39BA3085-98BD-4984-9C38-AFDA18857722}" destId="{4E062ED7-C8B7-4731-A7F1-BE128EC98711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22099B-C41C-408D-A09C-4C036F524DB3}" type="doc">
      <dgm:prSet loTypeId="urn:microsoft.com/office/officeart/2005/8/layout/vList5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04B54DE-7AF4-4CB4-B608-23986912A49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One-Hot-Encoding: Completed = 0, Terminated / Withdrawn = 1</a:t>
          </a:r>
          <a:endParaRPr lang="en-GB" sz="1500" dirty="0"/>
        </a:p>
      </dgm:t>
    </dgm:pt>
    <dgm:pt modelId="{86898E17-3847-4306-AC7A-3CF060EF52D8}" type="parTrans" cxnId="{3333F455-B39D-4AED-821C-4E64F5435C82}">
      <dgm:prSet/>
      <dgm:spPr/>
      <dgm:t>
        <a:bodyPr/>
        <a:lstStyle/>
        <a:p>
          <a:endParaRPr lang="en-GB"/>
        </a:p>
      </dgm:t>
    </dgm:pt>
    <dgm:pt modelId="{BB5425DB-06CD-4901-904A-F707F9EF7403}" type="sibTrans" cxnId="{3333F455-B39D-4AED-821C-4E64F5435C82}">
      <dgm:prSet/>
      <dgm:spPr/>
      <dgm:t>
        <a:bodyPr/>
        <a:lstStyle/>
        <a:p>
          <a:endParaRPr lang="en-GB"/>
        </a:p>
      </dgm:t>
    </dgm:pt>
    <dgm:pt modelId="{6E3DD2CD-012E-43D2-8ACA-3379650B21B2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Random Under Sample (Imbalance)</a:t>
          </a:r>
          <a:endParaRPr lang="en-GB" sz="1500" dirty="0"/>
        </a:p>
      </dgm:t>
    </dgm:pt>
    <dgm:pt modelId="{E7111990-F433-40A4-9B1C-C207BA8CED28}" type="parTrans" cxnId="{26170C30-A4F0-4603-BB93-72F0639012D3}">
      <dgm:prSet/>
      <dgm:spPr/>
      <dgm:t>
        <a:bodyPr/>
        <a:lstStyle/>
        <a:p>
          <a:endParaRPr lang="en-GB"/>
        </a:p>
      </dgm:t>
    </dgm:pt>
    <dgm:pt modelId="{186CD722-9684-40C9-A08C-883561BE0B7B}" type="sibTrans" cxnId="{26170C30-A4F0-4603-BB93-72F0639012D3}">
      <dgm:prSet/>
      <dgm:spPr/>
      <dgm:t>
        <a:bodyPr/>
        <a:lstStyle/>
        <a:p>
          <a:endParaRPr lang="en-GB"/>
        </a:p>
      </dgm:t>
    </dgm:pt>
    <dgm:pt modelId="{ECAB65BA-2CCB-47FA-90F0-12502F7CD667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Statistical Analysis</a:t>
          </a:r>
          <a:endParaRPr lang="en-GB" sz="1800" dirty="0"/>
        </a:p>
      </dgm:t>
    </dgm:pt>
    <dgm:pt modelId="{2912F7AE-6121-4AE1-8137-BCE86CA0E436}" type="parTrans" cxnId="{C172C7F5-BA9C-4BB9-8259-F4B1498BFE88}">
      <dgm:prSet/>
      <dgm:spPr/>
      <dgm:t>
        <a:bodyPr/>
        <a:lstStyle/>
        <a:p>
          <a:endParaRPr lang="en-GB"/>
        </a:p>
      </dgm:t>
    </dgm:pt>
    <dgm:pt modelId="{913F1ADE-97C3-454B-ACCF-AFAA92708741}" type="sibTrans" cxnId="{C172C7F5-BA9C-4BB9-8259-F4B1498BFE88}">
      <dgm:prSet/>
      <dgm:spPr/>
      <dgm:t>
        <a:bodyPr/>
        <a:lstStyle/>
        <a:p>
          <a:endParaRPr lang="en-GB"/>
        </a:p>
      </dgm:t>
    </dgm:pt>
    <dgm:pt modelId="{E255CFCF-58F1-4D1D-9D3C-4D9466A42ED1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Classic Statistic Models</a:t>
          </a:r>
          <a:endParaRPr lang="en-GB" sz="1500" dirty="0"/>
        </a:p>
      </dgm:t>
    </dgm:pt>
    <dgm:pt modelId="{D4567D44-B2D2-4B04-A7A1-6AF865C73C4A}" type="parTrans" cxnId="{29DB4060-509E-4160-8C51-6A07475B6A14}">
      <dgm:prSet/>
      <dgm:spPr/>
      <dgm:t>
        <a:bodyPr/>
        <a:lstStyle/>
        <a:p>
          <a:endParaRPr lang="en-GB"/>
        </a:p>
      </dgm:t>
    </dgm:pt>
    <dgm:pt modelId="{A2D4B6A7-7220-4275-865D-CA29B37B1897}" type="sibTrans" cxnId="{29DB4060-509E-4160-8C51-6A07475B6A14}">
      <dgm:prSet/>
      <dgm:spPr/>
      <dgm:t>
        <a:bodyPr/>
        <a:lstStyle/>
        <a:p>
          <a:endParaRPr lang="en-GB"/>
        </a:p>
      </dgm:t>
    </dgm:pt>
    <dgm:pt modelId="{B0600B66-B46F-40B6-8B17-B8524682865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(L1), LDA, QDA </a:t>
          </a:r>
          <a:endParaRPr lang="en-GB" sz="1500" dirty="0"/>
        </a:p>
      </dgm:t>
    </dgm:pt>
    <dgm:pt modelId="{22ADC9B3-F73C-4C97-B245-1C25F345F061}" type="parTrans" cxnId="{CBEB297C-89C9-42B3-981E-CABC46858287}">
      <dgm:prSet/>
      <dgm:spPr/>
      <dgm:t>
        <a:bodyPr/>
        <a:lstStyle/>
        <a:p>
          <a:endParaRPr lang="en-GB"/>
        </a:p>
      </dgm:t>
    </dgm:pt>
    <dgm:pt modelId="{DFFAB384-9D2D-4C6F-8231-975AEACB606A}" type="sibTrans" cxnId="{CBEB297C-89C9-42B3-981E-CABC46858287}">
      <dgm:prSet/>
      <dgm:spPr/>
      <dgm:t>
        <a:bodyPr/>
        <a:lstStyle/>
        <a:p>
          <a:endParaRPr lang="en-GB"/>
        </a:p>
      </dgm:t>
    </dgm:pt>
    <dgm:pt modelId="{9B2B852C-EAA3-47DA-A8FA-B03219776D86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GB" sz="1600" dirty="0"/>
            <a:t>Model – Features Evaluation </a:t>
          </a:r>
          <a:r>
            <a:rPr lang="en-US" sz="1600" dirty="0"/>
            <a:t>/ Interpretation</a:t>
          </a:r>
          <a:endParaRPr lang="en-GB" sz="1600" dirty="0"/>
        </a:p>
      </dgm:t>
    </dgm:pt>
    <dgm:pt modelId="{3946658C-70C2-415C-B4E6-80B0DF88B1D8}" type="parTrans" cxnId="{CB6C10B6-1A65-433E-8634-E3ED426DEB18}">
      <dgm:prSet/>
      <dgm:spPr/>
      <dgm:t>
        <a:bodyPr/>
        <a:lstStyle/>
        <a:p>
          <a:endParaRPr lang="en-GB"/>
        </a:p>
      </dgm:t>
    </dgm:pt>
    <dgm:pt modelId="{A162B4E3-799D-41D8-91A4-BDB9FDF5E130}" type="sibTrans" cxnId="{CB6C10B6-1A65-433E-8634-E3ED426DEB18}">
      <dgm:prSet/>
      <dgm:spPr/>
      <dgm:t>
        <a:bodyPr/>
        <a:lstStyle/>
        <a:p>
          <a:endParaRPr lang="en-GB"/>
        </a:p>
      </dgm:t>
    </dgm:pt>
    <dgm:pt modelId="{8FEAD5E4-97D6-4CFC-86B6-A26A7F729487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Imbalance Sensitive metrics (MCC)</a:t>
          </a:r>
          <a:endParaRPr lang="en-GB" sz="1500" dirty="0"/>
        </a:p>
      </dgm:t>
    </dgm:pt>
    <dgm:pt modelId="{79A9F14D-A3ED-4594-8BCB-FA0AB1F22C96}" type="parTrans" cxnId="{1045AA96-17ED-4DD0-BD8D-9C971F9C32A1}">
      <dgm:prSet/>
      <dgm:spPr/>
      <dgm:t>
        <a:bodyPr/>
        <a:lstStyle/>
        <a:p>
          <a:endParaRPr lang="en-GB"/>
        </a:p>
      </dgm:t>
    </dgm:pt>
    <dgm:pt modelId="{3FAC9D0B-7ECA-4A8A-BCE0-B4F9BFCD4956}" type="sibTrans" cxnId="{1045AA96-17ED-4DD0-BD8D-9C971F9C32A1}">
      <dgm:prSet/>
      <dgm:spPr/>
      <dgm:t>
        <a:bodyPr/>
        <a:lstStyle/>
        <a:p>
          <a:endParaRPr lang="en-GB"/>
        </a:p>
      </dgm:t>
    </dgm:pt>
    <dgm:pt modelId="{7A0E02F4-3F9C-4069-925A-EB6E3A3FA1F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ROC/PR Curves</a:t>
          </a:r>
          <a:endParaRPr lang="en-GB" sz="1500" dirty="0"/>
        </a:p>
      </dgm:t>
    </dgm:pt>
    <dgm:pt modelId="{16581E5A-6559-4A62-ADB0-3D7817190D88}" type="parTrans" cxnId="{7788635E-6D07-433D-963A-EB3919C119B1}">
      <dgm:prSet/>
      <dgm:spPr/>
      <dgm:t>
        <a:bodyPr/>
        <a:lstStyle/>
        <a:p>
          <a:endParaRPr lang="en-GB"/>
        </a:p>
      </dgm:t>
    </dgm:pt>
    <dgm:pt modelId="{67C68DA8-3D32-4CC9-BF17-1F95B3AFB9A4}" type="sibTrans" cxnId="{7788635E-6D07-433D-963A-EB3919C119B1}">
      <dgm:prSet/>
      <dgm:spPr/>
      <dgm:t>
        <a:bodyPr/>
        <a:lstStyle/>
        <a:p>
          <a:endParaRPr lang="en-GB"/>
        </a:p>
      </dgm:t>
    </dgm:pt>
    <dgm:pt modelId="{503EAE3D-96D0-4506-927D-E29AFB79DDB1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SHAP plots </a:t>
          </a:r>
          <a:endParaRPr lang="en-GB" sz="1500" dirty="0"/>
        </a:p>
      </dgm:t>
    </dgm:pt>
    <dgm:pt modelId="{75349F84-9403-4094-9747-DEE4BDD05D01}" type="parTrans" cxnId="{7E97E324-EC2D-43FD-A738-CBFB8E3DADE6}">
      <dgm:prSet/>
      <dgm:spPr/>
      <dgm:t>
        <a:bodyPr/>
        <a:lstStyle/>
        <a:p>
          <a:endParaRPr lang="en-GB"/>
        </a:p>
      </dgm:t>
    </dgm:pt>
    <dgm:pt modelId="{36B9A918-6F76-4E21-9920-310D0C04E18D}" type="sibTrans" cxnId="{7E97E324-EC2D-43FD-A738-CBFB8E3DADE6}">
      <dgm:prSet/>
      <dgm:spPr/>
      <dgm:t>
        <a:bodyPr/>
        <a:lstStyle/>
        <a:p>
          <a:endParaRPr lang="en-GB"/>
        </a:p>
      </dgm:t>
    </dgm:pt>
    <dgm:pt modelId="{E391617A-E7DD-4FDF-991D-6D6E54481043}">
      <dgm:prSet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500" b="1" dirty="0"/>
            <a:t>ML models</a:t>
          </a:r>
          <a:endParaRPr lang="en-GB" sz="1500" b="1" dirty="0"/>
        </a:p>
      </dgm:t>
    </dgm:pt>
    <dgm:pt modelId="{811190BA-A7C5-40B1-8A62-0B54277ED2D9}" type="parTrans" cxnId="{7E557EE5-11AD-4DAB-B47D-1CAED87697B7}">
      <dgm:prSet/>
      <dgm:spPr/>
      <dgm:t>
        <a:bodyPr/>
        <a:lstStyle/>
        <a:p>
          <a:endParaRPr lang="en-GB"/>
        </a:p>
      </dgm:t>
    </dgm:pt>
    <dgm:pt modelId="{EE31202E-F616-42EE-8D41-21C266B68DBD}" type="sibTrans" cxnId="{7E557EE5-11AD-4DAB-B47D-1CAED87697B7}">
      <dgm:prSet/>
      <dgm:spPr/>
      <dgm:t>
        <a:bodyPr/>
        <a:lstStyle/>
        <a:p>
          <a:endParaRPr lang="en-GB"/>
        </a:p>
      </dgm:t>
    </dgm:pt>
    <dgm:pt modelId="{7EC0B3D7-4F99-4B43-900F-0EE1BB80704F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KNN, SVC</a:t>
          </a:r>
          <a:endParaRPr lang="en-GB" sz="1500" b="0" dirty="0"/>
        </a:p>
      </dgm:t>
    </dgm:pt>
    <dgm:pt modelId="{2ECE73DB-4FB7-45D3-ACF3-6AEC7D12A1DC}" type="parTrans" cxnId="{0E762CC9-9155-4F9C-AA67-0ACBD93362FE}">
      <dgm:prSet/>
      <dgm:spPr/>
      <dgm:t>
        <a:bodyPr/>
        <a:lstStyle/>
        <a:p>
          <a:endParaRPr lang="en-GB"/>
        </a:p>
      </dgm:t>
    </dgm:pt>
    <dgm:pt modelId="{519BF972-AFD4-4E7B-9058-BB2DC2DFB29E}" type="sibTrans" cxnId="{0E762CC9-9155-4F9C-AA67-0ACBD93362FE}">
      <dgm:prSet/>
      <dgm:spPr/>
      <dgm:t>
        <a:bodyPr/>
        <a:lstStyle/>
        <a:p>
          <a:endParaRPr lang="en-GB"/>
        </a:p>
      </dgm:t>
    </dgm:pt>
    <dgm:pt modelId="{C32467F7-3CE0-41DE-9C17-257A098FFAFC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Random Forest</a:t>
          </a:r>
        </a:p>
      </dgm:t>
    </dgm:pt>
    <dgm:pt modelId="{11AF158F-FB67-423E-9A07-D8CCB8504FDD}" type="parTrans" cxnId="{02E2B05E-C6B0-45E8-B85D-A5DAFC8E4B8C}">
      <dgm:prSet/>
      <dgm:spPr/>
      <dgm:t>
        <a:bodyPr/>
        <a:lstStyle/>
        <a:p>
          <a:endParaRPr lang="en-GB"/>
        </a:p>
      </dgm:t>
    </dgm:pt>
    <dgm:pt modelId="{2DA9250D-3D9F-4B39-B0F5-74DCDAED2A8B}" type="sibTrans" cxnId="{02E2B05E-C6B0-45E8-B85D-A5DAFC8E4B8C}">
      <dgm:prSet/>
      <dgm:spPr/>
      <dgm:t>
        <a:bodyPr/>
        <a:lstStyle/>
        <a:p>
          <a:endParaRPr lang="en-GB"/>
        </a:p>
      </dgm:t>
    </dgm:pt>
    <dgm:pt modelId="{C17AEEAA-6BF3-4E08-B01D-1AF2529D908A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500" b="0" dirty="0"/>
            <a:t>Grad.Boosting, XGBoost, LightBoost</a:t>
          </a:r>
        </a:p>
      </dgm:t>
    </dgm:pt>
    <dgm:pt modelId="{76262691-2D34-4904-8849-FB15ABAE9BE6}" type="parTrans" cxnId="{D18816A2-C861-4B11-ADAC-D7DD319C1BDA}">
      <dgm:prSet/>
      <dgm:spPr/>
      <dgm:t>
        <a:bodyPr/>
        <a:lstStyle/>
        <a:p>
          <a:endParaRPr lang="en-GB"/>
        </a:p>
      </dgm:t>
    </dgm:pt>
    <dgm:pt modelId="{5D2B15A5-D1C4-4698-B821-B67BBF8BC8F3}" type="sibTrans" cxnId="{D18816A2-C861-4B11-ADAC-D7DD319C1BDA}">
      <dgm:prSet/>
      <dgm:spPr/>
      <dgm:t>
        <a:bodyPr/>
        <a:lstStyle/>
        <a:p>
          <a:endParaRPr lang="en-GB"/>
        </a:p>
      </dgm:t>
    </dgm:pt>
    <dgm:pt modelId="{775A0E56-45E5-4F2F-8BB2-03888CBCA43E}">
      <dgm:prSet custT="1"/>
      <dgm:spPr>
        <a:solidFill>
          <a:schemeClr val="accent5">
            <a:lumMod val="50000"/>
          </a:schemeClr>
        </a:solidFill>
        <a:ln>
          <a:noFill/>
        </a:ln>
      </dgm:spPr>
      <dgm:t>
        <a:bodyPr/>
        <a:lstStyle/>
        <a:p>
          <a:r>
            <a:rPr lang="en-US" sz="1800" b="0" dirty="0"/>
            <a:t>Model </a:t>
          </a:r>
          <a:br>
            <a:rPr lang="en-US" sz="1800" b="0" dirty="0"/>
          </a:br>
          <a:r>
            <a:rPr lang="en-US" sz="1800" b="0" dirty="0"/>
            <a:t>Pre-Processing</a:t>
          </a:r>
          <a:endParaRPr lang="en-GB" sz="1800" dirty="0"/>
        </a:p>
      </dgm:t>
    </dgm:pt>
    <dgm:pt modelId="{435288A5-F6CE-47E8-951A-05C1FF468197}" type="parTrans" cxnId="{772BDE93-0E67-4E29-9A9E-76D1DE8EBCD3}">
      <dgm:prSet/>
      <dgm:spPr/>
      <dgm:t>
        <a:bodyPr/>
        <a:lstStyle/>
        <a:p>
          <a:endParaRPr lang="en-GB"/>
        </a:p>
      </dgm:t>
    </dgm:pt>
    <dgm:pt modelId="{03F7510F-F2F3-43D0-838E-585D1B2AF568}" type="sibTrans" cxnId="{772BDE93-0E67-4E29-9A9E-76D1DE8EBCD3}">
      <dgm:prSet/>
      <dgm:spPr/>
      <dgm:t>
        <a:bodyPr/>
        <a:lstStyle/>
        <a:p>
          <a:endParaRPr lang="en-GB"/>
        </a:p>
      </dgm:t>
    </dgm:pt>
    <dgm:pt modelId="{BB81C3B5-2314-4785-9328-D1AE6AE2D613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Min-Max Scaler</a:t>
          </a:r>
          <a:endParaRPr lang="en-GB" sz="1500" dirty="0"/>
        </a:p>
      </dgm:t>
    </dgm:pt>
    <dgm:pt modelId="{A050DE7A-6549-4CAE-857C-D90ADECF5A68}" type="parTrans" cxnId="{D1968A85-9847-47EC-AB41-2BD8CA92798B}">
      <dgm:prSet/>
      <dgm:spPr/>
      <dgm:t>
        <a:bodyPr/>
        <a:lstStyle/>
        <a:p>
          <a:endParaRPr lang="en-GB"/>
        </a:p>
      </dgm:t>
    </dgm:pt>
    <dgm:pt modelId="{87F311EB-1BD1-485C-8B14-143C4767ABB4}" type="sibTrans" cxnId="{D1968A85-9847-47EC-AB41-2BD8CA92798B}">
      <dgm:prSet/>
      <dgm:spPr/>
      <dgm:t>
        <a:bodyPr/>
        <a:lstStyle/>
        <a:p>
          <a:endParaRPr lang="en-GB"/>
        </a:p>
      </dgm:t>
    </dgm:pt>
    <dgm:pt modelId="{6EA1BCF4-61C4-4E72-A896-B51A3D88562E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Logistic Interpret</a:t>
          </a:r>
          <a:endParaRPr lang="en-GB" sz="1500" dirty="0"/>
        </a:p>
      </dgm:t>
    </dgm:pt>
    <dgm:pt modelId="{C075C8BC-49D3-4E0F-BCE0-E27B09F4D2DD}" type="parTrans" cxnId="{F1C4A781-A7DF-4BE7-A119-8E56610EC14D}">
      <dgm:prSet/>
      <dgm:spPr/>
      <dgm:t>
        <a:bodyPr/>
        <a:lstStyle/>
        <a:p>
          <a:endParaRPr lang="en-GB"/>
        </a:p>
      </dgm:t>
    </dgm:pt>
    <dgm:pt modelId="{B709DBDA-4E1E-4B64-9A50-299B1832A414}" type="sibTrans" cxnId="{F1C4A781-A7DF-4BE7-A119-8E56610EC14D}">
      <dgm:prSet/>
      <dgm:spPr/>
      <dgm:t>
        <a:bodyPr/>
        <a:lstStyle/>
        <a:p>
          <a:endParaRPr lang="en-GB"/>
        </a:p>
      </dgm:t>
    </dgm:pt>
    <dgm:pt modelId="{9A89735C-25C3-4963-9F5D-49EA4C388E80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dirty="0"/>
            <a:t>Train-Test Split (80:20) / (80:10)</a:t>
          </a:r>
          <a:endParaRPr lang="en-GB" sz="1500" dirty="0"/>
        </a:p>
      </dgm:t>
    </dgm:pt>
    <dgm:pt modelId="{181AA594-FBA5-4A5C-B9D6-7C0C425394FA}" type="parTrans" cxnId="{F7FB9099-FE00-4964-AE82-A0847C19984B}">
      <dgm:prSet/>
      <dgm:spPr/>
      <dgm:t>
        <a:bodyPr/>
        <a:lstStyle/>
        <a:p>
          <a:endParaRPr lang="en-GB"/>
        </a:p>
      </dgm:t>
    </dgm:pt>
    <dgm:pt modelId="{F6BA1226-4818-4D10-A196-8645C76AA56C}" type="sibTrans" cxnId="{F7FB9099-FE00-4964-AE82-A0847C19984B}">
      <dgm:prSet/>
      <dgm:spPr/>
      <dgm:t>
        <a:bodyPr/>
        <a:lstStyle/>
        <a:p>
          <a:endParaRPr lang="en-GB"/>
        </a:p>
      </dgm:t>
    </dgm:pt>
    <dgm:pt modelId="{1BBAD82F-E545-4BE6-95C6-F132FDABEB24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endParaRPr lang="en-GB" sz="1500" b="0" dirty="0"/>
        </a:p>
      </dgm:t>
    </dgm:pt>
    <dgm:pt modelId="{EFD4F4E6-D13D-43BA-AF12-259D5632F0D4}" type="parTrans" cxnId="{1BBC066B-342E-44D4-ACFA-263F081B632B}">
      <dgm:prSet/>
      <dgm:spPr/>
      <dgm:t>
        <a:bodyPr/>
        <a:lstStyle/>
        <a:p>
          <a:endParaRPr lang="en-GB"/>
        </a:p>
      </dgm:t>
    </dgm:pt>
    <dgm:pt modelId="{D21A4C4E-BAB2-4FBD-80FC-73B9D7B0F150}" type="sibTrans" cxnId="{1BBC066B-342E-44D4-ACFA-263F081B632B}">
      <dgm:prSet/>
      <dgm:spPr/>
      <dgm:t>
        <a:bodyPr/>
        <a:lstStyle/>
        <a:p>
          <a:endParaRPr lang="en-GB"/>
        </a:p>
      </dgm:t>
    </dgm:pt>
    <dgm:pt modelId="{4988BFC7-4B2E-48E4-8725-87E9F1E8960B}">
      <dgm:prSet custT="1"/>
      <dgm:spPr>
        <a:ln>
          <a:noFill/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500" b="0" dirty="0"/>
            <a:t>HPO : </a:t>
          </a:r>
          <a:r>
            <a:rPr lang="en-US" sz="1500" dirty="0"/>
            <a:t>5 K-Fold CV</a:t>
          </a:r>
          <a:endParaRPr lang="en-GB" sz="1500" b="0" dirty="0"/>
        </a:p>
      </dgm:t>
    </dgm:pt>
    <dgm:pt modelId="{1FB050C1-0886-4EAE-8B11-1E72A225309D}" type="parTrans" cxnId="{BCAA90E8-50AA-49FE-9370-4CFFF57C7BCC}">
      <dgm:prSet/>
      <dgm:spPr/>
      <dgm:t>
        <a:bodyPr/>
        <a:lstStyle/>
        <a:p>
          <a:endParaRPr lang="en-GB"/>
        </a:p>
      </dgm:t>
    </dgm:pt>
    <dgm:pt modelId="{1B985C43-8D5A-4F70-BF24-3EDC8D50BA96}" type="sibTrans" cxnId="{BCAA90E8-50AA-49FE-9370-4CFFF57C7BCC}">
      <dgm:prSet/>
      <dgm:spPr/>
      <dgm:t>
        <a:bodyPr/>
        <a:lstStyle/>
        <a:p>
          <a:endParaRPr lang="en-GB"/>
        </a:p>
      </dgm:t>
    </dgm:pt>
    <dgm:pt modelId="{07638703-1C65-454E-AA9A-E84CCA6DD2B5}" type="pres">
      <dgm:prSet presAssocID="{7622099B-C41C-408D-A09C-4C036F524DB3}" presName="Name0" presStyleCnt="0">
        <dgm:presLayoutVars>
          <dgm:dir/>
          <dgm:animLvl val="lvl"/>
          <dgm:resizeHandles val="exact"/>
        </dgm:presLayoutVars>
      </dgm:prSet>
      <dgm:spPr/>
    </dgm:pt>
    <dgm:pt modelId="{69D6229C-2310-446D-8FD1-0257F136FF2D}" type="pres">
      <dgm:prSet presAssocID="{775A0E56-45E5-4F2F-8BB2-03888CBCA43E}" presName="linNode" presStyleCnt="0"/>
      <dgm:spPr/>
    </dgm:pt>
    <dgm:pt modelId="{EAB654AF-3E2D-4818-B670-E9647EFD3FB1}" type="pres">
      <dgm:prSet presAssocID="{775A0E56-45E5-4F2F-8BB2-03888CBCA43E}" presName="parentText" presStyleLbl="node1" presStyleIdx="0" presStyleCnt="3" custScaleY="148302" custLinFactNeighborX="54" custLinFactNeighborY="-405">
        <dgm:presLayoutVars>
          <dgm:chMax val="1"/>
          <dgm:bulletEnabled val="1"/>
        </dgm:presLayoutVars>
      </dgm:prSet>
      <dgm:spPr/>
    </dgm:pt>
    <dgm:pt modelId="{45F4CA9F-B6AE-440A-846E-C46613653CA3}" type="pres">
      <dgm:prSet presAssocID="{775A0E56-45E5-4F2F-8BB2-03888CBCA43E}" presName="descendantText" presStyleLbl="alignAccFollowNode1" presStyleIdx="0" presStyleCnt="3" custScaleY="188281" custLinFactNeighborY="0">
        <dgm:presLayoutVars>
          <dgm:bulletEnabled val="1"/>
        </dgm:presLayoutVars>
      </dgm:prSet>
      <dgm:spPr/>
    </dgm:pt>
    <dgm:pt modelId="{E079E6E4-62C9-4B40-93DF-896BC543B0E0}" type="pres">
      <dgm:prSet presAssocID="{03F7510F-F2F3-43D0-838E-585D1B2AF568}" presName="sp" presStyleCnt="0"/>
      <dgm:spPr/>
    </dgm:pt>
    <dgm:pt modelId="{39736F16-8CC0-4F23-BF01-E3FA2D1FD403}" type="pres">
      <dgm:prSet presAssocID="{ECAB65BA-2CCB-47FA-90F0-12502F7CD667}" presName="linNode" presStyleCnt="0"/>
      <dgm:spPr/>
    </dgm:pt>
    <dgm:pt modelId="{347B65B5-D951-4BD4-80BE-FAE3D7D0B395}" type="pres">
      <dgm:prSet presAssocID="{ECAB65BA-2CCB-47FA-90F0-12502F7CD667}" presName="parentText" presStyleLbl="node1" presStyleIdx="1" presStyleCnt="3" custScaleY="221116" custLinFactNeighborX="54" custLinFactNeighborY="-405">
        <dgm:presLayoutVars>
          <dgm:chMax val="1"/>
          <dgm:bulletEnabled val="1"/>
        </dgm:presLayoutVars>
      </dgm:prSet>
      <dgm:spPr/>
    </dgm:pt>
    <dgm:pt modelId="{528CCE5E-2722-4EFC-B855-9221185C70A7}" type="pres">
      <dgm:prSet presAssocID="{ECAB65BA-2CCB-47FA-90F0-12502F7CD667}" presName="descendantText" presStyleLbl="alignAccFollowNode1" presStyleIdx="1" presStyleCnt="3" custScaleY="268696">
        <dgm:presLayoutVars>
          <dgm:bulletEnabled val="1"/>
        </dgm:presLayoutVars>
      </dgm:prSet>
      <dgm:spPr/>
    </dgm:pt>
    <dgm:pt modelId="{39D42361-6CF9-4A53-98C0-776AE63F6E71}" type="pres">
      <dgm:prSet presAssocID="{913F1ADE-97C3-454B-ACCF-AFAA92708741}" presName="sp" presStyleCnt="0"/>
      <dgm:spPr/>
    </dgm:pt>
    <dgm:pt modelId="{1BAEA31F-FB5C-42FB-B4FD-A535E0A8B879}" type="pres">
      <dgm:prSet presAssocID="{9B2B852C-EAA3-47DA-A8FA-B03219776D86}" presName="linNode" presStyleCnt="0"/>
      <dgm:spPr/>
    </dgm:pt>
    <dgm:pt modelId="{931D566F-3CC3-4DF1-B1AF-B7DE9820E2D9}" type="pres">
      <dgm:prSet presAssocID="{9B2B852C-EAA3-47DA-A8FA-B03219776D86}" presName="parentText" presStyleLbl="node1" presStyleIdx="2" presStyleCnt="3" custScaleY="129988">
        <dgm:presLayoutVars>
          <dgm:chMax val="1"/>
          <dgm:bulletEnabled val="1"/>
        </dgm:presLayoutVars>
      </dgm:prSet>
      <dgm:spPr/>
    </dgm:pt>
    <dgm:pt modelId="{7FCCB0FB-B29E-4A63-AD5D-91FA8360F37E}" type="pres">
      <dgm:prSet presAssocID="{9B2B852C-EAA3-47DA-A8FA-B03219776D86}" presName="descendantText" presStyleLbl="alignAccFollowNode1" presStyleIdx="2" presStyleCnt="3" custScaleY="163458">
        <dgm:presLayoutVars>
          <dgm:bulletEnabled val="1"/>
        </dgm:presLayoutVars>
      </dgm:prSet>
      <dgm:spPr/>
    </dgm:pt>
  </dgm:ptLst>
  <dgm:cxnLst>
    <dgm:cxn modelId="{A5855702-EF81-4C44-BE3C-C27267C5E040}" type="presOf" srcId="{7622099B-C41C-408D-A09C-4C036F524DB3}" destId="{07638703-1C65-454E-AA9A-E84CCA6DD2B5}" srcOrd="0" destOrd="0" presId="urn:microsoft.com/office/officeart/2005/8/layout/vList5"/>
    <dgm:cxn modelId="{E4630504-116B-4E77-933F-9C986CDE35BC}" type="presOf" srcId="{BB81C3B5-2314-4785-9328-D1AE6AE2D613}" destId="{45F4CA9F-B6AE-440A-846E-C46613653CA3}" srcOrd="0" destOrd="3" presId="urn:microsoft.com/office/officeart/2005/8/layout/vList5"/>
    <dgm:cxn modelId="{5143750A-2EC9-4478-96E0-656A958AD2FF}" type="presOf" srcId="{1BBAD82F-E545-4BE6-95C6-F132FDABEB24}" destId="{528CCE5E-2722-4EFC-B855-9221185C70A7}" srcOrd="0" destOrd="6" presId="urn:microsoft.com/office/officeart/2005/8/layout/vList5"/>
    <dgm:cxn modelId="{1236DE18-15B4-46B9-9503-1C82E8F35665}" type="presOf" srcId="{9B2B852C-EAA3-47DA-A8FA-B03219776D86}" destId="{931D566F-3CC3-4DF1-B1AF-B7DE9820E2D9}" srcOrd="0" destOrd="0" presId="urn:microsoft.com/office/officeart/2005/8/layout/vList5"/>
    <dgm:cxn modelId="{7E97E324-EC2D-43FD-A738-CBFB8E3DADE6}" srcId="{9B2B852C-EAA3-47DA-A8FA-B03219776D86}" destId="{503EAE3D-96D0-4506-927D-E29AFB79DDB1}" srcOrd="2" destOrd="0" parTransId="{75349F84-9403-4094-9747-DEE4BDD05D01}" sibTransId="{36B9A918-6F76-4E21-9920-310D0C04E18D}"/>
    <dgm:cxn modelId="{438A942B-7775-4C79-B49B-CBD8EA39E6E4}" type="presOf" srcId="{B0600B66-B46F-40B6-8B17-B8524682865A}" destId="{528CCE5E-2722-4EFC-B855-9221185C70A7}" srcOrd="0" destOrd="1" presId="urn:microsoft.com/office/officeart/2005/8/layout/vList5"/>
    <dgm:cxn modelId="{26170C30-A4F0-4603-BB93-72F0639012D3}" srcId="{775A0E56-45E5-4F2F-8BB2-03888CBCA43E}" destId="{6E3DD2CD-012E-43D2-8ACA-3379650B21B2}" srcOrd="2" destOrd="0" parTransId="{E7111990-F433-40A4-9B1C-C207BA8CED28}" sibTransId="{186CD722-9684-40C9-A08C-883561BE0B7B}"/>
    <dgm:cxn modelId="{20960E31-80E4-434C-9833-A98D016620C0}" type="presOf" srcId="{8FEAD5E4-97D6-4CFC-86B6-A26A7F729487}" destId="{7FCCB0FB-B29E-4A63-AD5D-91FA8360F37E}" srcOrd="0" destOrd="0" presId="urn:microsoft.com/office/officeart/2005/8/layout/vList5"/>
    <dgm:cxn modelId="{F99B3135-FACA-4043-872E-5CB3507795FF}" type="presOf" srcId="{503EAE3D-96D0-4506-927D-E29AFB79DDB1}" destId="{7FCCB0FB-B29E-4A63-AD5D-91FA8360F37E}" srcOrd="0" destOrd="2" presId="urn:microsoft.com/office/officeart/2005/8/layout/vList5"/>
    <dgm:cxn modelId="{7788635E-6D07-433D-963A-EB3919C119B1}" srcId="{9B2B852C-EAA3-47DA-A8FA-B03219776D86}" destId="{7A0E02F4-3F9C-4069-925A-EB6E3A3FA1FE}" srcOrd="1" destOrd="0" parTransId="{16581E5A-6559-4A62-ADB0-3D7817190D88}" sibTransId="{67C68DA8-3D32-4CC9-BF17-1F95B3AFB9A4}"/>
    <dgm:cxn modelId="{02E2B05E-C6B0-45E8-B85D-A5DAFC8E4B8C}" srcId="{ECAB65BA-2CCB-47FA-90F0-12502F7CD667}" destId="{C32467F7-3CE0-41DE-9C17-257A098FFAFC}" srcOrd="4" destOrd="0" parTransId="{11AF158F-FB67-423E-9A07-D8CCB8504FDD}" sibTransId="{2DA9250D-3D9F-4B39-B0F5-74DCDAED2A8B}"/>
    <dgm:cxn modelId="{29DB4060-509E-4160-8C51-6A07475B6A14}" srcId="{ECAB65BA-2CCB-47FA-90F0-12502F7CD667}" destId="{E255CFCF-58F1-4D1D-9D3C-4D9466A42ED1}" srcOrd="0" destOrd="0" parTransId="{D4567D44-B2D2-4B04-A7A1-6AF865C73C4A}" sibTransId="{A2D4B6A7-7220-4275-865D-CA29B37B1897}"/>
    <dgm:cxn modelId="{B9244A46-996A-45F8-82BA-8959F7D107E1}" type="presOf" srcId="{6E3DD2CD-012E-43D2-8ACA-3379650B21B2}" destId="{45F4CA9F-B6AE-440A-846E-C46613653CA3}" srcOrd="0" destOrd="2" presId="urn:microsoft.com/office/officeart/2005/8/layout/vList5"/>
    <dgm:cxn modelId="{1BBC066B-342E-44D4-ACFA-263F081B632B}" srcId="{ECAB65BA-2CCB-47FA-90F0-12502F7CD667}" destId="{1BBAD82F-E545-4BE6-95C6-F132FDABEB24}" srcOrd="6" destOrd="0" parTransId="{EFD4F4E6-D13D-43BA-AF12-259D5632F0D4}" sibTransId="{D21A4C4E-BAB2-4FBD-80FC-73B9D7B0F150}"/>
    <dgm:cxn modelId="{466F436D-A639-4506-BE51-411E477419B4}" type="presOf" srcId="{ECAB65BA-2CCB-47FA-90F0-12502F7CD667}" destId="{347B65B5-D951-4BD4-80BE-FAE3D7D0B395}" srcOrd="0" destOrd="0" presId="urn:microsoft.com/office/officeart/2005/8/layout/vList5"/>
    <dgm:cxn modelId="{3333F455-B39D-4AED-821C-4E64F5435C82}" srcId="{775A0E56-45E5-4F2F-8BB2-03888CBCA43E}" destId="{704B54DE-7AF4-4CB4-B608-23986912A49B}" srcOrd="0" destOrd="0" parTransId="{86898E17-3847-4306-AC7A-3CF060EF52D8}" sibTransId="{BB5425DB-06CD-4901-904A-F707F9EF7403}"/>
    <dgm:cxn modelId="{DE59FB78-434B-4C40-AF14-B9A6DE4A9035}" type="presOf" srcId="{6EA1BCF4-61C4-4E72-A896-B51A3D88562E}" destId="{7FCCB0FB-B29E-4A63-AD5D-91FA8360F37E}" srcOrd="0" destOrd="3" presId="urn:microsoft.com/office/officeart/2005/8/layout/vList5"/>
    <dgm:cxn modelId="{CBEB297C-89C9-42B3-981E-CABC46858287}" srcId="{ECAB65BA-2CCB-47FA-90F0-12502F7CD667}" destId="{B0600B66-B46F-40B6-8B17-B8524682865A}" srcOrd="1" destOrd="0" parTransId="{22ADC9B3-F73C-4C97-B245-1C25F345F061}" sibTransId="{DFFAB384-9D2D-4C6F-8231-975AEACB606A}"/>
    <dgm:cxn modelId="{F1C4A781-A7DF-4BE7-A119-8E56610EC14D}" srcId="{9B2B852C-EAA3-47DA-A8FA-B03219776D86}" destId="{6EA1BCF4-61C4-4E72-A896-B51A3D88562E}" srcOrd="3" destOrd="0" parTransId="{C075C8BC-49D3-4E0F-BCE0-E27B09F4D2DD}" sibTransId="{B709DBDA-4E1E-4B64-9A50-299B1832A414}"/>
    <dgm:cxn modelId="{3D820182-4244-41CC-8FEC-209ADEAF685E}" type="presOf" srcId="{7A0E02F4-3F9C-4069-925A-EB6E3A3FA1FE}" destId="{7FCCB0FB-B29E-4A63-AD5D-91FA8360F37E}" srcOrd="0" destOrd="1" presId="urn:microsoft.com/office/officeart/2005/8/layout/vList5"/>
    <dgm:cxn modelId="{07916F84-1F32-401B-9642-EAEB93C77EE7}" type="presOf" srcId="{4988BFC7-4B2E-48E4-8725-87E9F1E8960B}" destId="{528CCE5E-2722-4EFC-B855-9221185C70A7}" srcOrd="0" destOrd="7" presId="urn:microsoft.com/office/officeart/2005/8/layout/vList5"/>
    <dgm:cxn modelId="{D1968A85-9847-47EC-AB41-2BD8CA92798B}" srcId="{775A0E56-45E5-4F2F-8BB2-03888CBCA43E}" destId="{BB81C3B5-2314-4785-9328-D1AE6AE2D613}" srcOrd="3" destOrd="0" parTransId="{A050DE7A-6549-4CAE-857C-D90ADECF5A68}" sibTransId="{87F311EB-1BD1-485C-8B14-143C4767ABB4}"/>
    <dgm:cxn modelId="{23A5AC89-0E3B-4165-8F88-068FF0ED9DFA}" type="presOf" srcId="{C17AEEAA-6BF3-4E08-B01D-1AF2529D908A}" destId="{528CCE5E-2722-4EFC-B855-9221185C70A7}" srcOrd="0" destOrd="5" presId="urn:microsoft.com/office/officeart/2005/8/layout/vList5"/>
    <dgm:cxn modelId="{C96E0A92-DF80-4E06-920B-B7C07A7D6799}" type="presOf" srcId="{E391617A-E7DD-4FDF-991D-6D6E54481043}" destId="{528CCE5E-2722-4EFC-B855-9221185C70A7}" srcOrd="0" destOrd="2" presId="urn:microsoft.com/office/officeart/2005/8/layout/vList5"/>
    <dgm:cxn modelId="{772BDE93-0E67-4E29-9A9E-76D1DE8EBCD3}" srcId="{7622099B-C41C-408D-A09C-4C036F524DB3}" destId="{775A0E56-45E5-4F2F-8BB2-03888CBCA43E}" srcOrd="0" destOrd="0" parTransId="{435288A5-F6CE-47E8-951A-05C1FF468197}" sibTransId="{03F7510F-F2F3-43D0-838E-585D1B2AF568}"/>
    <dgm:cxn modelId="{1045AA96-17ED-4DD0-BD8D-9C971F9C32A1}" srcId="{9B2B852C-EAA3-47DA-A8FA-B03219776D86}" destId="{8FEAD5E4-97D6-4CFC-86B6-A26A7F729487}" srcOrd="0" destOrd="0" parTransId="{79A9F14D-A3ED-4594-8BCB-FA0AB1F22C96}" sibTransId="{3FAC9D0B-7ECA-4A8A-BCE0-B4F9BFCD4956}"/>
    <dgm:cxn modelId="{F7FB9099-FE00-4964-AE82-A0847C19984B}" srcId="{775A0E56-45E5-4F2F-8BB2-03888CBCA43E}" destId="{9A89735C-25C3-4963-9F5D-49EA4C388E80}" srcOrd="1" destOrd="0" parTransId="{181AA594-FBA5-4A5C-B9D6-7C0C425394FA}" sibTransId="{F6BA1226-4818-4D10-A196-8645C76AA56C}"/>
    <dgm:cxn modelId="{1E5BDE99-46DC-4AF5-8736-D0031529D62F}" type="presOf" srcId="{704B54DE-7AF4-4CB4-B608-23986912A49B}" destId="{45F4CA9F-B6AE-440A-846E-C46613653CA3}" srcOrd="0" destOrd="0" presId="urn:microsoft.com/office/officeart/2005/8/layout/vList5"/>
    <dgm:cxn modelId="{D18816A2-C861-4B11-ADAC-D7DD319C1BDA}" srcId="{ECAB65BA-2CCB-47FA-90F0-12502F7CD667}" destId="{C17AEEAA-6BF3-4E08-B01D-1AF2529D908A}" srcOrd="5" destOrd="0" parTransId="{76262691-2D34-4904-8849-FB15ABAE9BE6}" sibTransId="{5D2B15A5-D1C4-4698-B821-B67BBF8BC8F3}"/>
    <dgm:cxn modelId="{CB6C10B6-1A65-433E-8634-E3ED426DEB18}" srcId="{7622099B-C41C-408D-A09C-4C036F524DB3}" destId="{9B2B852C-EAA3-47DA-A8FA-B03219776D86}" srcOrd="2" destOrd="0" parTransId="{3946658C-70C2-415C-B4E6-80B0DF88B1D8}" sibTransId="{A162B4E3-799D-41D8-91A4-BDB9FDF5E130}"/>
    <dgm:cxn modelId="{0F0520BA-C7F4-44E5-A8F7-BD02723706EE}" type="presOf" srcId="{775A0E56-45E5-4F2F-8BB2-03888CBCA43E}" destId="{EAB654AF-3E2D-4818-B670-E9647EFD3FB1}" srcOrd="0" destOrd="0" presId="urn:microsoft.com/office/officeart/2005/8/layout/vList5"/>
    <dgm:cxn modelId="{07670CBD-C919-47F9-BEE9-01D002D51B59}" type="presOf" srcId="{7EC0B3D7-4F99-4B43-900F-0EE1BB80704F}" destId="{528CCE5E-2722-4EFC-B855-9221185C70A7}" srcOrd="0" destOrd="3" presId="urn:microsoft.com/office/officeart/2005/8/layout/vList5"/>
    <dgm:cxn modelId="{827309C9-AA24-453C-8DF4-AFEA2991F82B}" type="presOf" srcId="{C32467F7-3CE0-41DE-9C17-257A098FFAFC}" destId="{528CCE5E-2722-4EFC-B855-9221185C70A7}" srcOrd="0" destOrd="4" presId="urn:microsoft.com/office/officeart/2005/8/layout/vList5"/>
    <dgm:cxn modelId="{0E762CC9-9155-4F9C-AA67-0ACBD93362FE}" srcId="{ECAB65BA-2CCB-47FA-90F0-12502F7CD667}" destId="{7EC0B3D7-4F99-4B43-900F-0EE1BB80704F}" srcOrd="3" destOrd="0" parTransId="{2ECE73DB-4FB7-45D3-ACF3-6AEC7D12A1DC}" sibTransId="{519BF972-AFD4-4E7B-9058-BB2DC2DFB29E}"/>
    <dgm:cxn modelId="{F80719DF-DE1A-4357-9081-18F73750E092}" type="presOf" srcId="{E255CFCF-58F1-4D1D-9D3C-4D9466A42ED1}" destId="{528CCE5E-2722-4EFC-B855-9221185C70A7}" srcOrd="0" destOrd="0" presId="urn:microsoft.com/office/officeart/2005/8/layout/vList5"/>
    <dgm:cxn modelId="{7E557EE5-11AD-4DAB-B47D-1CAED87697B7}" srcId="{ECAB65BA-2CCB-47FA-90F0-12502F7CD667}" destId="{E391617A-E7DD-4FDF-991D-6D6E54481043}" srcOrd="2" destOrd="0" parTransId="{811190BA-A7C5-40B1-8A62-0B54277ED2D9}" sibTransId="{EE31202E-F616-42EE-8D41-21C266B68DBD}"/>
    <dgm:cxn modelId="{BCAA90E8-50AA-49FE-9370-4CFFF57C7BCC}" srcId="{ECAB65BA-2CCB-47FA-90F0-12502F7CD667}" destId="{4988BFC7-4B2E-48E4-8725-87E9F1E8960B}" srcOrd="7" destOrd="0" parTransId="{1FB050C1-0886-4EAE-8B11-1E72A225309D}" sibTransId="{1B985C43-8D5A-4F70-BF24-3EDC8D50BA96}"/>
    <dgm:cxn modelId="{C172C7F5-BA9C-4BB9-8259-F4B1498BFE88}" srcId="{7622099B-C41C-408D-A09C-4C036F524DB3}" destId="{ECAB65BA-2CCB-47FA-90F0-12502F7CD667}" srcOrd="1" destOrd="0" parTransId="{2912F7AE-6121-4AE1-8137-BCE86CA0E436}" sibTransId="{913F1ADE-97C3-454B-ACCF-AFAA92708741}"/>
    <dgm:cxn modelId="{D889CFFE-E244-4072-8DFF-DCA9015F0EF8}" type="presOf" srcId="{9A89735C-25C3-4963-9F5D-49EA4C388E80}" destId="{45F4CA9F-B6AE-440A-846E-C46613653CA3}" srcOrd="0" destOrd="1" presId="urn:microsoft.com/office/officeart/2005/8/layout/vList5"/>
    <dgm:cxn modelId="{4E18FD97-DE10-4DE3-9068-7484A33EE58E}" type="presParOf" srcId="{07638703-1C65-454E-AA9A-E84CCA6DD2B5}" destId="{69D6229C-2310-446D-8FD1-0257F136FF2D}" srcOrd="0" destOrd="0" presId="urn:microsoft.com/office/officeart/2005/8/layout/vList5"/>
    <dgm:cxn modelId="{7EB11120-D6D3-4960-8405-AFB836D6F04B}" type="presParOf" srcId="{69D6229C-2310-446D-8FD1-0257F136FF2D}" destId="{EAB654AF-3E2D-4818-B670-E9647EFD3FB1}" srcOrd="0" destOrd="0" presId="urn:microsoft.com/office/officeart/2005/8/layout/vList5"/>
    <dgm:cxn modelId="{6CCC7A6F-9E4E-4043-807C-8EEB9F61E5BC}" type="presParOf" srcId="{69D6229C-2310-446D-8FD1-0257F136FF2D}" destId="{45F4CA9F-B6AE-440A-846E-C46613653CA3}" srcOrd="1" destOrd="0" presId="urn:microsoft.com/office/officeart/2005/8/layout/vList5"/>
    <dgm:cxn modelId="{DEFDF50C-5456-4C04-AC53-DB67EFBCD9F2}" type="presParOf" srcId="{07638703-1C65-454E-AA9A-E84CCA6DD2B5}" destId="{E079E6E4-62C9-4B40-93DF-896BC543B0E0}" srcOrd="1" destOrd="0" presId="urn:microsoft.com/office/officeart/2005/8/layout/vList5"/>
    <dgm:cxn modelId="{2B05407A-4C24-4A61-A380-7FACCA430DC6}" type="presParOf" srcId="{07638703-1C65-454E-AA9A-E84CCA6DD2B5}" destId="{39736F16-8CC0-4F23-BF01-E3FA2D1FD403}" srcOrd="2" destOrd="0" presId="urn:microsoft.com/office/officeart/2005/8/layout/vList5"/>
    <dgm:cxn modelId="{DE83B63E-A37D-40B1-B30B-029A8A461878}" type="presParOf" srcId="{39736F16-8CC0-4F23-BF01-E3FA2D1FD403}" destId="{347B65B5-D951-4BD4-80BE-FAE3D7D0B395}" srcOrd="0" destOrd="0" presId="urn:microsoft.com/office/officeart/2005/8/layout/vList5"/>
    <dgm:cxn modelId="{88D0D930-83B1-4C4E-8996-DE96478FB774}" type="presParOf" srcId="{39736F16-8CC0-4F23-BF01-E3FA2D1FD403}" destId="{528CCE5E-2722-4EFC-B855-9221185C70A7}" srcOrd="1" destOrd="0" presId="urn:microsoft.com/office/officeart/2005/8/layout/vList5"/>
    <dgm:cxn modelId="{F9564ADE-6E3D-4230-A58B-08DFD3168DA5}" type="presParOf" srcId="{07638703-1C65-454E-AA9A-E84CCA6DD2B5}" destId="{39D42361-6CF9-4A53-98C0-776AE63F6E71}" srcOrd="3" destOrd="0" presId="urn:microsoft.com/office/officeart/2005/8/layout/vList5"/>
    <dgm:cxn modelId="{9B3FA81D-F873-425D-BBB5-656CE2A137A1}" type="presParOf" srcId="{07638703-1C65-454E-AA9A-E84CCA6DD2B5}" destId="{1BAEA31F-FB5C-42FB-B4FD-A535E0A8B879}" srcOrd="4" destOrd="0" presId="urn:microsoft.com/office/officeart/2005/8/layout/vList5"/>
    <dgm:cxn modelId="{E67D124E-804F-44D9-9E04-02FA8CD4BB7E}" type="presParOf" srcId="{1BAEA31F-FB5C-42FB-B4FD-A535E0A8B879}" destId="{931D566F-3CC3-4DF1-B1AF-B7DE9820E2D9}" srcOrd="0" destOrd="0" presId="urn:microsoft.com/office/officeart/2005/8/layout/vList5"/>
    <dgm:cxn modelId="{D0D77A68-87AB-45B2-AB2D-06C00BCC91A4}" type="presParOf" srcId="{1BAEA31F-FB5C-42FB-B4FD-A535E0A8B879}" destId="{7FCCB0FB-B29E-4A63-AD5D-91FA8360F37E}" srcOrd="1" destOrd="0" presId="urn:microsoft.com/office/officeart/2005/8/layout/vList5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5F097C-F6C6-4E8C-9C63-81C3579DED6E}">
      <dsp:nvSpPr>
        <dsp:cNvPr id="0" name=""/>
        <dsp:cNvSpPr/>
      </dsp:nvSpPr>
      <dsp:spPr>
        <a:xfrm>
          <a:off x="12180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B26FC-9C40-4CE1-BE1A-0304970FB05F}">
      <dsp:nvSpPr>
        <dsp:cNvPr id="0" name=""/>
        <dsp:cNvSpPr/>
      </dsp:nvSpPr>
      <dsp:spPr>
        <a:xfrm>
          <a:off x="7621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Safety and Respect of participants</a:t>
          </a:r>
          <a:endParaRPr lang="en-US" sz="1500" kern="1200" dirty="0"/>
        </a:p>
      </dsp:txBody>
      <dsp:txXfrm>
        <a:off x="762191" y="1386618"/>
        <a:ext cx="1657617" cy="1291775"/>
      </dsp:txXfrm>
    </dsp:sp>
    <dsp:sp modelId="{10CD44B8-4BED-46A9-AEC9-C2FFF20B9DB9}">
      <dsp:nvSpPr>
        <dsp:cNvPr id="0" name=""/>
        <dsp:cNvSpPr/>
      </dsp:nvSpPr>
      <dsp:spPr>
        <a:xfrm>
          <a:off x="3165735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D5C9E3-7664-4725-B0D3-D184449080D2}">
      <dsp:nvSpPr>
        <dsp:cNvPr id="0" name=""/>
        <dsp:cNvSpPr/>
      </dsp:nvSpPr>
      <dsp:spPr>
        <a:xfrm>
          <a:off x="27098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Minimization of </a:t>
          </a:r>
          <a:r>
            <a:rPr lang="en-GB" sz="1500" kern="1200" dirty="0"/>
            <a:t>Participants’</a:t>
          </a:r>
          <a:r>
            <a:rPr lang="el-GR" sz="1500" kern="1200" dirty="0"/>
            <a:t> </a:t>
          </a:r>
          <a:r>
            <a:rPr lang="en-GB" sz="1500" kern="1200" dirty="0"/>
            <a:t>contribution to scientific progress</a:t>
          </a:r>
          <a:endParaRPr lang="en-US" sz="1500" kern="1200" dirty="0"/>
        </a:p>
      </dsp:txBody>
      <dsp:txXfrm>
        <a:off x="2709891" y="1386618"/>
        <a:ext cx="1657617" cy="1291775"/>
      </dsp:txXfrm>
    </dsp:sp>
    <dsp:sp modelId="{59A2B8B4-6246-41C8-BFEC-BD6C0959915A}">
      <dsp:nvSpPr>
        <dsp:cNvPr id="0" name=""/>
        <dsp:cNvSpPr/>
      </dsp:nvSpPr>
      <dsp:spPr>
        <a:xfrm>
          <a:off x="51134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7C35B-79DC-41F4-A4C9-989CEA0A7D31}">
      <dsp:nvSpPr>
        <dsp:cNvPr id="0" name=""/>
        <dsp:cNvSpPr/>
      </dsp:nvSpPr>
      <dsp:spPr>
        <a:xfrm>
          <a:off x="46575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Loss of funding.  </a:t>
          </a:r>
          <a:br>
            <a:rPr lang="en-GB" sz="1500" kern="1200" dirty="0"/>
          </a:br>
          <a:r>
            <a:rPr lang="en-GB" sz="1500" kern="1200" dirty="0"/>
            <a:t>Especially in scaled advanced phases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Could be utilized elsewhere</a:t>
          </a:r>
          <a:endParaRPr lang="en-US" sz="1500" kern="1200" dirty="0"/>
        </a:p>
      </dsp:txBody>
      <dsp:txXfrm>
        <a:off x="4657591" y="1386618"/>
        <a:ext cx="1657617" cy="1291775"/>
      </dsp:txXfrm>
    </dsp:sp>
    <dsp:sp modelId="{87EA96F7-4609-481C-93ED-651A855409D5}">
      <dsp:nvSpPr>
        <dsp:cNvPr id="0" name=""/>
        <dsp:cNvSpPr/>
      </dsp:nvSpPr>
      <dsp:spPr>
        <a:xfrm>
          <a:off x="70611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68FBD3-FA58-4321-BE70-1730D9AA60CD}">
      <dsp:nvSpPr>
        <dsp:cNvPr id="0" name=""/>
        <dsp:cNvSpPr/>
      </dsp:nvSpPr>
      <dsp:spPr>
        <a:xfrm>
          <a:off x="66052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Inefficient and slow scientific progress </a:t>
          </a:r>
          <a:r>
            <a:rPr lang="en-GB" sz="1500" kern="1200" dirty="0">
              <a:sym typeface="Wingdings" panose="05000000000000000000" pitchFamily="2" charset="2"/>
            </a:rPr>
            <a:t> Clinical practice impact</a:t>
          </a:r>
          <a:endParaRPr lang="en-US" sz="1500" kern="1200" dirty="0"/>
        </a:p>
      </dsp:txBody>
      <dsp:txXfrm>
        <a:off x="6605291" y="1386618"/>
        <a:ext cx="1657617" cy="1291775"/>
      </dsp:txXfrm>
    </dsp:sp>
    <dsp:sp modelId="{63D46D1B-C6EC-4E3F-8AA5-2244F78D2ABD}">
      <dsp:nvSpPr>
        <dsp:cNvPr id="0" name=""/>
        <dsp:cNvSpPr/>
      </dsp:nvSpPr>
      <dsp:spPr>
        <a:xfrm>
          <a:off x="9008836" y="281086"/>
          <a:ext cx="745927" cy="74592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0FD85D-2C9A-4362-B00D-B6CE2B2C721C}">
      <dsp:nvSpPr>
        <dsp:cNvPr id="0" name=""/>
        <dsp:cNvSpPr/>
      </dsp:nvSpPr>
      <dsp:spPr>
        <a:xfrm>
          <a:off x="8552991" y="1386618"/>
          <a:ext cx="1657617" cy="12917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Unreliable scientific information </a:t>
          </a:r>
          <a:r>
            <a:rPr lang="en-GB" sz="1500" kern="1200" dirty="0">
              <a:sym typeface="Wingdings" panose="05000000000000000000" pitchFamily="2" charset="2"/>
            </a:rPr>
            <a:t></a:t>
          </a:r>
          <a:r>
            <a:rPr lang="en-GB" sz="1500" kern="1200" dirty="0"/>
            <a:t> Researchers, Clinicians and Replicability, Reproducibility</a:t>
          </a:r>
          <a:endParaRPr lang="en-US" sz="1500" kern="1200" dirty="0"/>
        </a:p>
      </dsp:txBody>
      <dsp:txXfrm>
        <a:off x="8552991" y="1386618"/>
        <a:ext cx="1657617" cy="12917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C1B403-9E6E-4411-9B69-79A1584C7937}">
      <dsp:nvSpPr>
        <dsp:cNvPr id="0" name=""/>
        <dsp:cNvSpPr/>
      </dsp:nvSpPr>
      <dsp:spPr>
        <a:xfrm rot="5400000">
          <a:off x="3023645" y="-1338133"/>
          <a:ext cx="1481364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Challenging real world data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Missing: </a:t>
          </a:r>
          <a:r>
            <a:rPr lang="en-US" sz="1500" kern="1200" dirty="0"/>
            <a:t>csv+bd, RegEx, Merge levels, Drop, Imputation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New Features (e.g., Interactions, Formats)</a:t>
          </a:r>
        </a:p>
      </dsp:txBody>
      <dsp:txXfrm rot="-5400000">
        <a:off x="1682348" y="75478"/>
        <a:ext cx="4091645" cy="1336736"/>
      </dsp:txXfrm>
    </dsp:sp>
    <dsp:sp modelId="{20EFAA17-3592-4F78-AEAE-2CD118F957A5}">
      <dsp:nvSpPr>
        <dsp:cNvPr id="0" name=""/>
        <dsp:cNvSpPr/>
      </dsp:nvSpPr>
      <dsp:spPr>
        <a:xfrm>
          <a:off x="837" y="15254"/>
          <a:ext cx="1681510" cy="1457183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Data Engineering</a:t>
          </a:r>
        </a:p>
      </dsp:txBody>
      <dsp:txXfrm>
        <a:off x="71971" y="86388"/>
        <a:ext cx="1539242" cy="1314915"/>
      </dsp:txXfrm>
    </dsp:sp>
    <dsp:sp modelId="{4E062ED7-C8B7-4731-A7F1-BE128EC98711}">
      <dsp:nvSpPr>
        <dsp:cNvPr id="0" name=""/>
        <dsp:cNvSpPr/>
      </dsp:nvSpPr>
      <dsp:spPr>
        <a:xfrm rot="5400000">
          <a:off x="1570914" y="1636105"/>
          <a:ext cx="4386826" cy="416395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kern="1200" dirty="0"/>
            <a:t>Exploratory Analysis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kern="1200" dirty="0"/>
            <a:t>Train set </a:t>
          </a:r>
          <a:r>
            <a:rPr lang="en-US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</a:t>
          </a:r>
          <a:r>
            <a:rPr lang="en-US" sz="1500" kern="1200" dirty="0"/>
            <a:t> information leakage</a:t>
          </a:r>
          <a:br>
            <a:rPr lang="en-US" sz="1500" kern="1200" dirty="0"/>
          </a:b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Distribution Plots (Bar, Kde, Count)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Frequency tables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Univariable analysis: Logistic, Chi-square, Mann-Whitney test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AIC, p values, CL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Sparsity Risk: EPV ≥25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Correlation: Spearman, X</a:t>
          </a:r>
          <a:r>
            <a:rPr lang="en-GB" sz="1500" kern="1200" baseline="30000" dirty="0"/>
            <a:t>2</a:t>
          </a:r>
          <a:r>
            <a:rPr lang="en-GB" sz="1500" kern="1200" dirty="0"/>
            <a:t> (Phi), 1-way-Anova</a:t>
          </a:r>
          <a:r>
            <a:rPr lang="el-GR" sz="1500" kern="1200" dirty="0"/>
            <a:t>(η</a:t>
          </a:r>
          <a:r>
            <a:rPr lang="el-GR" sz="1500" kern="1200" baseline="30000" dirty="0"/>
            <a:t>2</a:t>
          </a:r>
          <a:r>
            <a:rPr lang="el-GR" sz="1500" kern="1200" dirty="0"/>
            <a:t>)</a:t>
          </a:r>
          <a:r>
            <a:rPr lang="en-GB" sz="1500" kern="1200" dirty="0"/>
            <a:t> , </a:t>
          </a:r>
          <a:r>
            <a:rPr lang="en-GB" sz="1500" u="sng" kern="1200" dirty="0">
              <a:sym typeface="Wingdings" panose="05000000000000000000" pitchFamily="2" charset="2"/>
            </a:rPr>
            <a:t>Heatmaps, VIF </a:t>
          </a:r>
          <a:r>
            <a:rPr lang="en-GB" sz="1500" u="sng" kern="1200" dirty="0"/>
            <a:t>≥10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kern="1200" dirty="0"/>
            <a:t>Outliers</a:t>
          </a:r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/>
            <a:t>Merge levels </a:t>
          </a:r>
          <a:r>
            <a:rPr lang="en-GB" sz="1500" kern="1200" dirty="0">
              <a:sym typeface="Wingdings" panose="05000000000000000000" pitchFamily="2" charset="2"/>
            </a:rPr>
            <a:t> </a:t>
          </a:r>
          <a:r>
            <a:rPr lang="en-US" sz="1500" b="1" kern="1200" dirty="0"/>
            <a:t>X </a:t>
          </a:r>
          <a:r>
            <a:rPr lang="en-US" sz="1500" b="0" kern="1200" dirty="0"/>
            <a:t>rows dropped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Real world skewed data 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  <a:sym typeface="Wingdings" panose="05000000000000000000" pitchFamily="2" charset="2"/>
            </a:rPr>
            <a:t>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 Log scale</a:t>
          </a:r>
          <a:endParaRPr lang="en-GB" sz="1500" kern="1200" dirty="0"/>
        </a:p>
        <a:p>
          <a:pPr marL="114300" lvl="1" indent="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GB" sz="1500" kern="1200" dirty="0">
              <a:latin typeface="+mn-lt"/>
            </a:rPr>
            <a:t>F</a:t>
          </a:r>
          <a:r>
            <a:rPr lang="en-GB" sz="15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+mn-lt"/>
              <a:ea typeface="+mn-ea"/>
              <a:cs typeface="+mn-cs"/>
            </a:rPr>
            <a:t>eature Selection</a:t>
          </a:r>
          <a:endParaRPr lang="en-GB" sz="1500" kern="1200" dirty="0"/>
        </a:p>
      </dsp:txBody>
      <dsp:txXfrm rot="-5400000">
        <a:off x="1682347" y="1727940"/>
        <a:ext cx="3960691" cy="3980290"/>
      </dsp:txXfrm>
    </dsp:sp>
    <dsp:sp modelId="{9E95D006-3A52-4C9F-915C-CE452CD5CD7D}">
      <dsp:nvSpPr>
        <dsp:cNvPr id="0" name=""/>
        <dsp:cNvSpPr/>
      </dsp:nvSpPr>
      <dsp:spPr>
        <a:xfrm>
          <a:off x="837" y="1537408"/>
          <a:ext cx="1681510" cy="43613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Exploratory Analysis</a:t>
          </a:r>
        </a:p>
      </dsp:txBody>
      <dsp:txXfrm>
        <a:off x="82922" y="1619493"/>
        <a:ext cx="1517340" cy="41971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F4CA9F-B6AE-440A-846E-C46613653CA3}">
      <dsp:nvSpPr>
        <dsp:cNvPr id="0" name=""/>
        <dsp:cNvSpPr/>
      </dsp:nvSpPr>
      <dsp:spPr>
        <a:xfrm rot="5400000">
          <a:off x="3106103" y="-999561"/>
          <a:ext cx="1737854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One-Hot-Encoding: Completed = 0, Terminated / Withdrawn = 1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Train-Test Split (80:20) / (80:10)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Random Under Sample (Imbalance)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Min-Max Scaler</a:t>
          </a:r>
          <a:endParaRPr lang="en-GB" sz="1500" kern="1200" dirty="0"/>
        </a:p>
      </dsp:txBody>
      <dsp:txXfrm rot="-5400000">
        <a:off x="2105772" y="85605"/>
        <a:ext cx="3653683" cy="1568184"/>
      </dsp:txXfrm>
    </dsp:sp>
    <dsp:sp modelId="{EAB654AF-3E2D-4818-B670-E9647EFD3FB1}">
      <dsp:nvSpPr>
        <dsp:cNvPr id="0" name=""/>
        <dsp:cNvSpPr/>
      </dsp:nvSpPr>
      <dsp:spPr>
        <a:xfrm>
          <a:off x="4873" y="9497"/>
          <a:ext cx="2102916" cy="17110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Model </a:t>
          </a:r>
          <a:br>
            <a:rPr lang="en-US" sz="1800" b="0" kern="1200" dirty="0"/>
          </a:br>
          <a:r>
            <a:rPr lang="en-US" sz="1800" b="0" kern="1200" dirty="0"/>
            <a:t>Pre-Processing</a:t>
          </a:r>
          <a:endParaRPr lang="en-GB" sz="1800" kern="1200" dirty="0"/>
        </a:p>
      </dsp:txBody>
      <dsp:txXfrm>
        <a:off x="88400" y="93024"/>
        <a:ext cx="1935862" cy="1544000"/>
      </dsp:txXfrm>
    </dsp:sp>
    <dsp:sp modelId="{528CCE5E-2722-4EFC-B855-9221185C70A7}">
      <dsp:nvSpPr>
        <dsp:cNvPr id="0" name=""/>
        <dsp:cNvSpPr/>
      </dsp:nvSpPr>
      <dsp:spPr>
        <a:xfrm rot="5400000">
          <a:off x="2734984" y="1202631"/>
          <a:ext cx="2480093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Classic Statistic Models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(L1), LDA, QDA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500" b="1" kern="1200" dirty="0"/>
            <a:t>ML models</a:t>
          </a:r>
          <a:endParaRPr lang="en-GB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KNN, SVC</a:t>
          </a: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Random Forest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GB" sz="1500" b="0" kern="1200" dirty="0"/>
            <a:t>Grad.Boosting, XGBoost, LightBoost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GB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b="0" kern="1200" dirty="0"/>
            <a:t>HPO : </a:t>
          </a:r>
          <a:r>
            <a:rPr lang="en-US" sz="1500" kern="1200" dirty="0"/>
            <a:t>5 K-Fold CV</a:t>
          </a:r>
          <a:endParaRPr lang="en-GB" sz="1500" b="0" kern="1200" dirty="0"/>
        </a:p>
      </dsp:txBody>
      <dsp:txXfrm rot="-5400000">
        <a:off x="2105772" y="1952911"/>
        <a:ext cx="3617450" cy="2237957"/>
      </dsp:txXfrm>
    </dsp:sp>
    <dsp:sp modelId="{347B65B5-D951-4BD4-80BE-FAE3D7D0B395}">
      <dsp:nvSpPr>
        <dsp:cNvPr id="0" name=""/>
        <dsp:cNvSpPr/>
      </dsp:nvSpPr>
      <dsp:spPr>
        <a:xfrm>
          <a:off x="4873" y="1791640"/>
          <a:ext cx="2102916" cy="2551155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/>
            <a:t>Statistical Analysis</a:t>
          </a:r>
          <a:endParaRPr lang="en-GB" sz="1800" kern="1200" dirty="0"/>
        </a:p>
      </dsp:txBody>
      <dsp:txXfrm>
        <a:off x="107529" y="1894296"/>
        <a:ext cx="1897604" cy="2345843"/>
      </dsp:txXfrm>
    </dsp:sp>
    <dsp:sp modelId="{7FCCB0FB-B29E-4A63-AD5D-91FA8360F37E}">
      <dsp:nvSpPr>
        <dsp:cNvPr id="0" name=""/>
        <dsp:cNvSpPr/>
      </dsp:nvSpPr>
      <dsp:spPr>
        <a:xfrm rot="5400000">
          <a:off x="3220663" y="3290265"/>
          <a:ext cx="1508735" cy="3738518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  <a:scene3d>
          <a:camera prst="orthographicFront"/>
          <a:lightRig rig="threePt" dir="t">
            <a:rot lat="0" lon="0" rev="7500000"/>
          </a:lightRig>
        </a:scene3d>
        <a:sp3d extrusionH="190500" prstMaterial="dkEdge">
          <a:bevelT w="120650" h="38100" prst="relaxedInset"/>
          <a:bevelB w="120650" h="57150" prst="relaxedInset"/>
          <a:contourClr>
            <a:schemeClr val="bg1"/>
          </a:contourClr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Imbalance Sensitive metrics (MCC)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ROC/PR Curves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SHAP plots </a:t>
          </a:r>
          <a:endParaRPr lang="en-GB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Logistic Interpret</a:t>
          </a:r>
          <a:endParaRPr lang="en-GB" sz="1500" kern="1200" dirty="0"/>
        </a:p>
      </dsp:txBody>
      <dsp:txXfrm rot="-5400000">
        <a:off x="2105772" y="4478806"/>
        <a:ext cx="3664868" cy="1361435"/>
      </dsp:txXfrm>
    </dsp:sp>
    <dsp:sp modelId="{931D566F-3CC3-4DF1-B1AF-B7DE9820E2D9}">
      <dsp:nvSpPr>
        <dsp:cNvPr id="0" name=""/>
        <dsp:cNvSpPr/>
      </dsp:nvSpPr>
      <dsp:spPr>
        <a:xfrm>
          <a:off x="2855" y="4409647"/>
          <a:ext cx="2102916" cy="1499754"/>
        </a:xfrm>
        <a:prstGeom prst="roundRect">
          <a:avLst/>
        </a:prstGeom>
        <a:solidFill>
          <a:schemeClr val="accent5">
            <a:lumMod val="50000"/>
          </a:schemeClr>
        </a:soli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Model – Features Evaluation </a:t>
          </a:r>
          <a:r>
            <a:rPr lang="en-US" sz="1600" kern="1200" dirty="0"/>
            <a:t>/ Interpretation</a:t>
          </a:r>
          <a:endParaRPr lang="en-GB" sz="1600" kern="1200" dirty="0"/>
        </a:p>
      </dsp:txBody>
      <dsp:txXfrm>
        <a:off x="76067" y="4482859"/>
        <a:ext cx="1956492" cy="1353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B614-F444-B3F3-F32E-2A478A678A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A518C0-6175-C812-0DFD-31FDF0AA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66ED-B4F4-80C3-8D4B-473B4FFBC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02390-0D08-58D6-55C9-404381F8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571CE-6EEF-B2E6-4121-A0139618F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10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3122D-5E2B-8B35-F945-66C4DA19E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A9358-C726-E940-EDB4-A5CD55DB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21B4C-B804-BEC6-26C1-ADA9E1F8C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8FB1E-A084-7CD3-C2C0-50F94867D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1793-4CF1-E02E-6536-73ADE71F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B23EE-2E11-ED79-9853-556244468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94EAD-7327-01DF-27E5-320190B44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F3A94-B4CC-A1B8-5086-4CD1D4E63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28B72-D8E5-2556-C13D-2B7140B96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17CF4-AE90-1F37-1610-D03CC7D3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3917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AC55-7487-2FC7-057C-D78A0EA7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D2C3B-EF53-0414-A77A-2A5503C56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F3D297-4CCC-A9B6-D477-ECC33A6A6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C58F4-895F-C8A1-AD55-0504D36D6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03BCE-6D03-40E0-9A8E-6A9501BA4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D6B11E-4820-D64F-4DFB-8192A1EA3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108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AE267-1144-47E8-3454-EAE439C8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3F4B0D-DA84-3F28-62F9-9F9678404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813A36-B2ED-8498-CB3C-7B7E5A9A5A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D8C2ED-0351-A287-D7CE-E568917A08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CBF7A-0E2D-955B-7945-CF96522E83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43737-4B0C-EF57-F1CA-75992A1F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65907B-6EB3-E4A9-0C66-145E4A2DD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C3F393-61A7-E4FC-3537-F154DAFB7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13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5BFF-1104-8AA0-DFEE-4F7811318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E79BDD-C680-ECA7-514D-5E44B6BA9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E8E19-DDE6-4AAD-D4AD-E9FF5E0CA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167BD-DF29-EF22-2D39-4C20BEC3F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5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16FFF4-C7A0-3FF9-2387-00BCD595C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B0B627-F62D-A768-E735-F477851DD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B9FFB-463B-443C-B80A-B04F728D8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590C8-E4B6-AA03-EF69-D2BF7DE23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90C73-1E78-C3F1-A31F-65A724C2E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1C7614-A4BF-27B8-7B63-7E05D9DC5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2C6C84-97E4-0891-36C3-55AC84CD5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DF8E2-AD9C-D401-E734-4789EEC8C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AAD2D-3B8A-0CF2-77BE-4CFF64E30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622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51718-191D-0D47-5C00-263DB50F2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56BE07-7622-4F11-79E1-31A38EC79D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23E6B0-BBC2-3292-3E6B-2C9EC8926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5A9A0-64AD-C709-0CD0-425934988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5F1BE-8190-BFDE-E740-7BA06745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7E982-7CA4-AAEC-92EE-A581A5A75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49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78BD-F4F2-0E60-E867-91CF261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FBB1F-4DA7-3123-8B3A-C3E44A0E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D18FB-DF30-E35F-214E-EFA73490A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9E0F8-DE52-C8E8-D37E-79AEFB0DD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8378E-CD4E-1CB2-3A83-C622CEDF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75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D6C7E-E512-49E8-CE04-ABDA4EDCEF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5BEDA-B506-3D6F-7855-475233A62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A1F0-9EDF-5745-8F1D-EBF4C3869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D5A9-1F5D-1EA7-055F-FB4307A5C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C076A-36FE-B9F4-CC0E-44BF6B93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4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20488-78DA-54C6-DAC7-02C6386B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B090E-9367-0186-822A-4B41465E9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DCAF0-42EC-D335-0130-34769BB45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A9776D-B584-4D4B-981C-FA97E36C0636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529F0-DED6-AA50-844B-8C2E46699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FBA7C-20E3-1A5A-BA33-B914C498E6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AA632E-5603-4A7A-8CE3-DBE7DB4EEB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3072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icaltrials.gov/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CEDF-EFB3-C401-7155-FB36C7BD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15473"/>
            <a:ext cx="10515600" cy="2051613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algn="ctr"/>
            <a:r>
              <a:rPr lang="el-GR" sz="3300" b="1" dirty="0"/>
              <a:t>Εθνικό Και Καποδιστριακό Πανεπιστήμιο Αθηνών</a:t>
            </a:r>
            <a:br>
              <a:rPr lang="en-GB" sz="3300" dirty="0"/>
            </a:br>
            <a:r>
              <a:rPr lang="el-GR" sz="3300" b="1" dirty="0"/>
              <a:t>Μεταπτυχιακό Πρόγραμμα Σπουδών</a:t>
            </a:r>
            <a:r>
              <a:rPr lang="en-US" sz="3300" b="1" dirty="0"/>
              <a:t>:</a:t>
            </a:r>
            <a:br>
              <a:rPr lang="en-US" sz="3300" b="1" dirty="0"/>
            </a:br>
            <a:br>
              <a:rPr lang="el-GR" sz="3300" b="1" dirty="0"/>
            </a:br>
            <a:r>
              <a:rPr lang="el-GR" sz="3300" b="1" dirty="0"/>
              <a:t>«Βιο</a:t>
            </a:r>
            <a:r>
              <a:rPr lang="en-US" sz="3300" b="1" dirty="0"/>
              <a:t>-</a:t>
            </a:r>
            <a:r>
              <a:rPr lang="el-GR" sz="3300" b="1" dirty="0"/>
              <a:t>στατιστική και Επιστήμη Δεδομένων Υγείας»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39F83A-723A-089B-DABC-C6A8AD936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101" y="1090914"/>
            <a:ext cx="4991797" cy="167663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2230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9FB8F2E-C1EA-0356-22BA-7189EA91775F}"/>
              </a:ext>
            </a:extLst>
          </p:cNvPr>
          <p:cNvSpPr txBox="1">
            <a:spLocks/>
          </p:cNvSpPr>
          <p:nvPr/>
        </p:nvSpPr>
        <p:spPr>
          <a:xfrm>
            <a:off x="838200" y="5530769"/>
            <a:ext cx="10515600" cy="1002175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800" b="1" dirty="0"/>
              <a:t>Φοιτητής/τρια: Ανδρέου Ευγενία</a:t>
            </a:r>
          </a:p>
          <a:p>
            <a:pPr algn="ctr"/>
            <a:r>
              <a:rPr lang="el-GR" sz="1800" b="1" dirty="0"/>
              <a:t>Επιβλέπων Καθηγητής: Δεναξάς Σπύρος</a:t>
            </a:r>
            <a:endParaRPr lang="en-GB" sz="1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253F5B-969C-ED7C-E6DD-0409268E6EFB}"/>
              </a:ext>
            </a:extLst>
          </p:cNvPr>
          <p:cNvSpPr txBox="1">
            <a:spLocks/>
          </p:cNvSpPr>
          <p:nvPr/>
        </p:nvSpPr>
        <p:spPr>
          <a:xfrm>
            <a:off x="609600" y="2674891"/>
            <a:ext cx="10972800" cy="255800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000" b="1" dirty="0"/>
              <a:t>Predicting early termination of clinical trials</a:t>
            </a:r>
            <a:r>
              <a:rPr lang="en-GB" sz="3000" b="1"/>
              <a:t>, using </a:t>
            </a:r>
            <a:r>
              <a:rPr lang="en-GB" sz="3000" b="1" dirty="0"/>
              <a:t>machine learning vs classical regression models, based on analysis of their design characteristics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46DE69-A32F-DC72-8928-3B97AD27B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38968"/>
            <a:ext cx="3247663" cy="10908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F59F5FB-A94B-31DE-2AAA-445E59F01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91981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Title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56886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171AF-4846-67D2-CC20-E35F25A4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301623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2C3FE-4952-8B04-EE9E-11D16A309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6" y="1922584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000" b="1" dirty="0"/>
              <a:t>Problem</a:t>
            </a:r>
            <a:endParaRPr lang="en-GB" sz="3000" dirty="0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E8E1A626-B7C4-9314-0D62-B97468983B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0722021"/>
              </p:ext>
            </p:extLst>
          </p:nvPr>
        </p:nvGraphicFramePr>
        <p:xfrm>
          <a:off x="609600" y="2379784"/>
          <a:ext cx="10972800" cy="2959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5F8027-D067-F729-F98F-5BF830061C66}"/>
              </a:ext>
            </a:extLst>
          </p:cNvPr>
          <p:cNvSpPr txBox="1">
            <a:spLocks/>
          </p:cNvSpPr>
          <p:nvPr/>
        </p:nvSpPr>
        <p:spPr>
          <a:xfrm>
            <a:off x="609600" y="5863058"/>
            <a:ext cx="10972800" cy="5281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000" dirty="0">
                <a:sym typeface="Wingdings" panose="05000000000000000000" pitchFamily="2" charset="2"/>
              </a:rPr>
              <a:t>Study CTs’ characteristics regarding early termination.</a:t>
            </a:r>
            <a:endParaRPr lang="en-GB" sz="20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CAD9BB0-1F82-1511-FDEC-D74329C882B9}"/>
              </a:ext>
            </a:extLst>
          </p:cNvPr>
          <p:cNvSpPr txBox="1">
            <a:spLocks/>
          </p:cNvSpPr>
          <p:nvPr/>
        </p:nvSpPr>
        <p:spPr>
          <a:xfrm>
            <a:off x="609600" y="537256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2500" b="1" dirty="0"/>
              <a:t>Objective</a:t>
            </a:r>
            <a:endParaRPr lang="en-GB" sz="2500" b="1" dirty="0">
              <a:sym typeface="Wingdings" panose="05000000000000000000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E12B7C-A56F-6A62-B5DD-62E3B3441FAC}"/>
              </a:ext>
            </a:extLst>
          </p:cNvPr>
          <p:cNvSpPr txBox="1"/>
          <p:nvPr/>
        </p:nvSpPr>
        <p:spPr>
          <a:xfrm>
            <a:off x="609596" y="965511"/>
            <a:ext cx="10972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2000" dirty="0"/>
              <a:t>Systematic research studies conducted on </a:t>
            </a:r>
            <a:r>
              <a:rPr lang="en-GB" sz="2000" u="sng" dirty="0"/>
              <a:t>human participants</a:t>
            </a:r>
            <a:r>
              <a:rPr lang="en-GB" sz="2000" dirty="0"/>
              <a:t> under controlled interventional conditions, aiming to evaluate the safety, efficacy, and effectiveness of medical interventions.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78943A5-0C0E-B40C-BF7E-B0721302C28E}"/>
              </a:ext>
            </a:extLst>
          </p:cNvPr>
          <p:cNvSpPr txBox="1">
            <a:spLocks/>
          </p:cNvSpPr>
          <p:nvPr/>
        </p:nvSpPr>
        <p:spPr>
          <a:xfrm>
            <a:off x="609596" y="316999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Clinical Trials</a:t>
            </a:r>
            <a:endParaRPr lang="el-GR" sz="3000" b="1" dirty="0"/>
          </a:p>
        </p:txBody>
      </p:sp>
    </p:spTree>
    <p:extLst>
      <p:ext uri="{BB962C8B-B14F-4D97-AF65-F5344CB8AC3E}">
        <p14:creationId xmlns:p14="http://schemas.microsoft.com/office/powerpoint/2010/main" val="264642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1EB9D-753F-B833-FABF-DF0A64325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9D3FD-4075-7801-EEA3-5C627734C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Data Source ClinicalTrials.gov</a:t>
            </a:r>
          </a:p>
        </p:txBody>
      </p:sp>
    </p:spTree>
    <p:extLst>
      <p:ext uri="{BB962C8B-B14F-4D97-AF65-F5344CB8AC3E}">
        <p14:creationId xmlns:p14="http://schemas.microsoft.com/office/powerpoint/2010/main" val="562415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4C2508-D28E-6C2B-E788-4415DE3EF595}"/>
              </a:ext>
            </a:extLst>
          </p:cNvPr>
          <p:cNvSpPr txBox="1">
            <a:spLocks/>
          </p:cNvSpPr>
          <p:nvPr/>
        </p:nvSpPr>
        <p:spPr>
          <a:xfrm>
            <a:off x="609600" y="827315"/>
            <a:ext cx="10972800" cy="14760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Digital medical records. Complex datasets including large number of entries of any data types (images, text, ICD-10 codes, etc.).</a:t>
            </a:r>
            <a:br>
              <a:rPr lang="en-GB" sz="2200" dirty="0"/>
            </a:br>
            <a:r>
              <a:rPr lang="en-GB" sz="2200" dirty="0"/>
              <a:t>Valuable information but also more challenging for analysis with traditional statistical models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7D1FB3-01A9-C464-C45A-EB8E9A04BC4D}"/>
              </a:ext>
            </a:extLst>
          </p:cNvPr>
          <p:cNvSpPr txBox="1">
            <a:spLocks/>
          </p:cNvSpPr>
          <p:nvPr/>
        </p:nvSpPr>
        <p:spPr>
          <a:xfrm>
            <a:off x="609600" y="2834636"/>
            <a:ext cx="10972800" cy="19727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200" dirty="0"/>
              <a:t>In 2005, the International Committee of Medical Journal Editors (ICMJE) </a:t>
            </a:r>
            <a:r>
              <a:rPr lang="en-GB" sz="2200" dirty="0">
                <a:sym typeface="Wingdings" panose="05000000000000000000" pitchFamily="2" charset="2"/>
              </a:rPr>
              <a:t></a:t>
            </a:r>
            <a:r>
              <a:rPr lang="en-GB" sz="2200" dirty="0"/>
              <a:t> </a:t>
            </a:r>
          </a:p>
          <a:p>
            <a:pPr algn="ctr"/>
            <a:r>
              <a:rPr lang="en-GB" sz="2200" dirty="0"/>
              <a:t>CTs uploaded on Public Registries </a:t>
            </a:r>
            <a:r>
              <a:rPr lang="en-GB" sz="2200" dirty="0">
                <a:sym typeface="Wingdings" panose="05000000000000000000" pitchFamily="2" charset="2"/>
              </a:rPr>
              <a:t>  </a:t>
            </a:r>
            <a:r>
              <a:rPr lang="en-GB" sz="2200" dirty="0"/>
              <a:t>Design transparency </a:t>
            </a:r>
          </a:p>
          <a:p>
            <a:pPr algn="ctr"/>
            <a:endParaRPr lang="en-GB" sz="2200" dirty="0"/>
          </a:p>
          <a:p>
            <a:pPr algn="ctr"/>
            <a:r>
              <a:rPr lang="en-GB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ClinicalTrials.gov</a:t>
            </a:r>
            <a:r>
              <a:rPr lang="en-GB" sz="2200" dirty="0"/>
              <a:t> registry is a type of EHR data regarding CTs’ information. </a:t>
            </a:r>
          </a:p>
          <a:p>
            <a:pPr algn="ctr"/>
            <a:r>
              <a:rPr lang="en-GB" sz="2200" dirty="0"/>
              <a:t>It was used as data source in current study</a:t>
            </a:r>
            <a:endParaRPr lang="en-US" sz="2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081B3-55DA-8B56-A28C-A5E0E86DD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0115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Electronic Health Records </a:t>
            </a:r>
            <a:r>
              <a:rPr lang="el-GR" sz="2500" b="1" dirty="0"/>
              <a:t>– </a:t>
            </a:r>
            <a:r>
              <a:rPr lang="en-US" sz="2500" b="1" dirty="0"/>
              <a:t>EHR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DEE60B-D404-7827-DCD6-007CA5735B35}"/>
              </a:ext>
            </a:extLst>
          </p:cNvPr>
          <p:cNvSpPr txBox="1"/>
          <p:nvPr/>
        </p:nvSpPr>
        <p:spPr>
          <a:xfrm>
            <a:off x="609600" y="2331275"/>
            <a:ext cx="10972800" cy="477054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/>
              <a:t>ClinicalTrials.gov Public Registry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9BB61E-EA88-626A-DB6A-1C88B5382EEA}"/>
              </a:ext>
            </a:extLst>
          </p:cNvPr>
          <p:cNvSpPr txBox="1"/>
          <p:nvPr/>
        </p:nvSpPr>
        <p:spPr>
          <a:xfrm>
            <a:off x="609600" y="4807371"/>
            <a:ext cx="10972800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500" b="1" dirty="0"/>
              <a:t>Significance of Accurate Registration</a:t>
            </a:r>
            <a:endParaRPr lang="el-GR" sz="2500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DDFCFBD-9E04-ECFB-B1C3-F69CFF2F9ACF}"/>
              </a:ext>
            </a:extLst>
          </p:cNvPr>
          <p:cNvSpPr txBox="1">
            <a:spLocks/>
          </p:cNvSpPr>
          <p:nvPr/>
        </p:nvSpPr>
        <p:spPr>
          <a:xfrm>
            <a:off x="609600" y="5440101"/>
            <a:ext cx="10972800" cy="122691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CTs’ characteristics 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Registries’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r>
              <a:rPr lang="en-GB" sz="2000" dirty="0"/>
              <a:t>Analysis </a:t>
            </a:r>
            <a:r>
              <a:rPr lang="en-GB" sz="2000" dirty="0">
                <a:sym typeface="Wingdings" panose="05000000000000000000" pitchFamily="2" charset="2"/>
              </a:rPr>
              <a:t></a:t>
            </a:r>
            <a:r>
              <a:rPr lang="en-GB" sz="2000" dirty="0"/>
              <a:t> Early termination relations </a:t>
            </a:r>
          </a:p>
          <a:p>
            <a:r>
              <a:rPr lang="en-GB" sz="2000" dirty="0"/>
              <a:t>Inaccurate registry </a:t>
            </a:r>
            <a:r>
              <a:rPr lang="en-GB" sz="2000" dirty="0">
                <a:sym typeface="Wingdings" panose="05000000000000000000" pitchFamily="2" charset="2"/>
              </a:rPr>
              <a:t> Researchers, Clinicians, Unethical </a:t>
            </a:r>
          </a:p>
        </p:txBody>
      </p:sp>
    </p:spTree>
    <p:extLst>
      <p:ext uri="{BB962C8B-B14F-4D97-AF65-F5344CB8AC3E}">
        <p14:creationId xmlns:p14="http://schemas.microsoft.com/office/powerpoint/2010/main" val="3253723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82945-C5A3-891C-124F-4B2A9A7B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280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Data Format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C937-D67E-0A40-7F75-05BDEA92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229979"/>
            <a:ext cx="10972800" cy="2349972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Interventional : Randomized, Non-Randomized</a:t>
            </a:r>
          </a:p>
          <a:p>
            <a:r>
              <a:rPr lang="en-US" sz="2000" dirty="0">
                <a:sym typeface="Wingdings" panose="05000000000000000000" pitchFamily="2" charset="2"/>
              </a:rPr>
              <a:t>Dates: 2011-2024</a:t>
            </a:r>
          </a:p>
          <a:p>
            <a:r>
              <a:rPr lang="en-GB" sz="2000" dirty="0"/>
              <a:t>Phases: 1, 2, 3, 4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dirty="0">
                <a:sym typeface="Wingdings" panose="05000000000000000000" pitchFamily="2" charset="2"/>
              </a:rPr>
              <a:t>67000 records  </a:t>
            </a:r>
            <a:br>
              <a:rPr lang="en-US" sz="2000" dirty="0">
                <a:sym typeface="Wingdings" panose="05000000000000000000" pitchFamily="2" charset="2"/>
              </a:rPr>
            </a:br>
            <a:r>
              <a:rPr lang="en-US" sz="2000" dirty="0">
                <a:sym typeface="Wingdings" panose="05000000000000000000" pitchFamily="2" charset="2"/>
              </a:rPr>
              <a:t>Phase 1: (21012, 54) | Phase 2: (19747, 54) | Phase 3: (13317, 54) | Phase 4: (12420, 54)</a:t>
            </a:r>
          </a:p>
          <a:p>
            <a:r>
              <a:rPr lang="en-US" sz="2000" dirty="0">
                <a:sym typeface="Wingdings" panose="05000000000000000000" pitchFamily="2" charset="2"/>
              </a:rPr>
              <a:t>Study Status: Completed, Terminated | Completed, Withdrawn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C8EA0A-F462-758F-BA11-97260070A3A6}"/>
              </a:ext>
            </a:extLst>
          </p:cNvPr>
          <p:cNvSpPr txBox="1">
            <a:spLocks/>
          </p:cNvSpPr>
          <p:nvPr/>
        </p:nvSpPr>
        <p:spPr>
          <a:xfrm>
            <a:off x="609600" y="934543"/>
            <a:ext cx="10972800" cy="7591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Format: 1. AACT </a:t>
            </a:r>
            <a:r>
              <a:rPr lang="en-US" sz="2000" b="1" dirty="0"/>
              <a:t>db</a:t>
            </a:r>
            <a:r>
              <a:rPr lang="en-US" sz="2000" dirty="0"/>
              <a:t> </a:t>
            </a:r>
            <a:r>
              <a:rPr lang="en-US" sz="2000" dirty="0">
                <a:sym typeface="Wingdings" panose="05000000000000000000" pitchFamily="2" charset="2"/>
              </a:rPr>
              <a:t>(Variety, Structured)  |  2. </a:t>
            </a:r>
            <a:r>
              <a:rPr lang="en-US" sz="2000" dirty="0"/>
              <a:t>ClinicalTrials.gov website </a:t>
            </a:r>
            <a:r>
              <a:rPr lang="en-US" sz="2000" b="1" dirty="0">
                <a:sym typeface="Wingdings" panose="05000000000000000000" pitchFamily="2" charset="2"/>
              </a:rPr>
              <a:t>csv</a:t>
            </a:r>
            <a:endParaRPr lang="en-US" sz="2000" dirty="0">
              <a:sym typeface="Wingdings" panose="05000000000000000000" pitchFamily="2" charset="2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CD9B0C-3CE0-400E-CB68-9AF9FB1B59DD}"/>
              </a:ext>
            </a:extLst>
          </p:cNvPr>
          <p:cNvSpPr txBox="1">
            <a:spLocks/>
          </p:cNvSpPr>
          <p:nvPr/>
        </p:nvSpPr>
        <p:spPr>
          <a:xfrm>
            <a:off x="609600" y="1716936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Selected Trials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5A33DB-46F9-29EA-5ED4-6F3291D206A4}"/>
              </a:ext>
            </a:extLst>
          </p:cNvPr>
          <p:cNvSpPr txBox="1">
            <a:spLocks/>
          </p:cNvSpPr>
          <p:nvPr/>
        </p:nvSpPr>
        <p:spPr>
          <a:xfrm>
            <a:off x="609600" y="4755798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000" b="1" dirty="0">
                <a:sym typeface="Wingdings" panose="05000000000000000000" pitchFamily="2" charset="2"/>
              </a:rPr>
              <a:t>Dataset Notes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AC0028-14B1-0B7D-9D13-D0694E0DD6A1}"/>
              </a:ext>
            </a:extLst>
          </p:cNvPr>
          <p:cNvSpPr txBox="1">
            <a:spLocks/>
          </p:cNvSpPr>
          <p:nvPr/>
        </p:nvSpPr>
        <p:spPr>
          <a:xfrm>
            <a:off x="609600" y="5307820"/>
            <a:ext cx="10972800" cy="119255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Imbalanced dataset Completed/Terminated ≈ 85:15</a:t>
            </a:r>
          </a:p>
          <a:p>
            <a:r>
              <a:rPr lang="en-GB" sz="2000" dirty="0"/>
              <a:t>Inaccurate registries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Missing, Optional, False inputs </a:t>
            </a:r>
            <a:r>
              <a:rPr lang="en-GB" sz="2000" dirty="0">
                <a:sym typeface="Wingdings" panose="05000000000000000000" pitchFamily="2" charset="2"/>
              </a:rPr>
              <a:t> </a:t>
            </a:r>
            <a:r>
              <a:rPr lang="en-US" sz="2000" dirty="0">
                <a:sym typeface="Wingdings" panose="05000000000000000000" pitchFamily="2" charset="2"/>
              </a:rPr>
              <a:t>Data processing complication</a:t>
            </a:r>
          </a:p>
          <a:p>
            <a:r>
              <a:rPr lang="en-US" sz="2000" dirty="0"/>
              <a:t>Real world data </a:t>
            </a:r>
            <a:r>
              <a:rPr lang="en-US" sz="2000" dirty="0">
                <a:sym typeface="Wingdings" panose="05000000000000000000" pitchFamily="2" charset="2"/>
              </a:rPr>
              <a:t> Large datasets, </a:t>
            </a:r>
            <a:r>
              <a:rPr lang="en-US" sz="2000" dirty="0"/>
              <a:t>Skewed data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35283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1977896-C24B-9F1A-D777-D502E6AF5937}"/>
              </a:ext>
            </a:extLst>
          </p:cNvPr>
          <p:cNvSpPr txBox="1">
            <a:spLocks/>
          </p:cNvSpPr>
          <p:nvPr/>
        </p:nvSpPr>
        <p:spPr>
          <a:xfrm>
            <a:off x="609600" y="685800"/>
            <a:ext cx="10972800" cy="5486400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5000" b="1" dirty="0"/>
              <a:t>Methodology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2295317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6814B7-E327-3B1E-F177-5D0C4F86C148}"/>
              </a:ext>
            </a:extLst>
          </p:cNvPr>
          <p:cNvSpPr/>
          <p:nvPr/>
        </p:nvSpPr>
        <p:spPr>
          <a:xfrm>
            <a:off x="5636939" y="5812568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Models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685977E3-BE66-C325-7617-8006ED1FCC83}"/>
              </a:ext>
            </a:extLst>
          </p:cNvPr>
          <p:cNvSpPr/>
          <p:nvPr/>
        </p:nvSpPr>
        <p:spPr>
          <a:xfrm>
            <a:off x="618003" y="3374657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Collinearity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6375C8D-75B6-B300-A413-940AA01BDE3E}"/>
              </a:ext>
            </a:extLst>
          </p:cNvPr>
          <p:cNvSpPr/>
          <p:nvPr/>
        </p:nvSpPr>
        <p:spPr>
          <a:xfrm>
            <a:off x="612872" y="4412892"/>
            <a:ext cx="1554480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Sparsity Risk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C395692-D7A5-4CC4-921A-B43C008650B1}"/>
              </a:ext>
            </a:extLst>
          </p:cNvPr>
          <p:cNvSpPr/>
          <p:nvPr/>
        </p:nvSpPr>
        <p:spPr>
          <a:xfrm>
            <a:off x="618003" y="5447883"/>
            <a:ext cx="1554480" cy="91440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rgbClr val="CCD2D8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Feature Selection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E0EECE8-AB14-663A-F02F-8B737CA2E32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079632" y="1499997"/>
            <a:ext cx="332243" cy="294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232069-8A2F-8848-7025-41FE72768F8C}"/>
              </a:ext>
            </a:extLst>
          </p:cNvPr>
          <p:cNvCxnSpPr>
            <a:cxnSpLocks/>
          </p:cNvCxnSpPr>
          <p:nvPr/>
        </p:nvCxnSpPr>
        <p:spPr>
          <a:xfrm>
            <a:off x="6189115" y="1962587"/>
            <a:ext cx="0" cy="36963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4E404E-5C6E-E5EE-A78B-BA3B2B61EEB2}"/>
              </a:ext>
            </a:extLst>
          </p:cNvPr>
          <p:cNvCxnSpPr>
            <a:cxnSpLocks/>
          </p:cNvCxnSpPr>
          <p:nvPr/>
        </p:nvCxnSpPr>
        <p:spPr>
          <a:xfrm flipV="1">
            <a:off x="8847948" y="2198759"/>
            <a:ext cx="1100649" cy="1144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00E1C02-3F02-6CE1-AA6B-17A0488972D1}"/>
              </a:ext>
            </a:extLst>
          </p:cNvPr>
          <p:cNvCxnSpPr>
            <a:cxnSpLocks/>
          </p:cNvCxnSpPr>
          <p:nvPr/>
        </p:nvCxnSpPr>
        <p:spPr>
          <a:xfrm flipV="1">
            <a:off x="8847948" y="3341759"/>
            <a:ext cx="1100650" cy="1727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CC1E783-18E4-8F6D-ECF6-34DDBB6B81E0}"/>
              </a:ext>
            </a:extLst>
          </p:cNvPr>
          <p:cNvCxnSpPr>
            <a:cxnSpLocks/>
            <a:stCxn id="30" idx="2"/>
            <a:endCxn id="4" idx="0"/>
          </p:cNvCxnSpPr>
          <p:nvPr/>
        </p:nvCxnSpPr>
        <p:spPr>
          <a:xfrm flipH="1">
            <a:off x="10725837" y="3798959"/>
            <a:ext cx="17661" cy="5199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464893D-F15C-B75F-4AAC-E1B5E329FBD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414179" y="3800686"/>
            <a:ext cx="1656529" cy="2011882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33F2D15-C7AE-A91A-DC48-28D5E93B476C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6966355" y="1502945"/>
            <a:ext cx="348761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5344E2E-FFEC-B46E-FB1C-FBAC268A6731}"/>
              </a:ext>
            </a:extLst>
          </p:cNvPr>
          <p:cNvCxnSpPr>
            <a:cxnSpLocks/>
            <a:stCxn id="63" idx="3"/>
            <a:endCxn id="22" idx="1"/>
          </p:cNvCxnSpPr>
          <p:nvPr/>
        </p:nvCxnSpPr>
        <p:spPr>
          <a:xfrm flipV="1">
            <a:off x="2172483" y="3353334"/>
            <a:ext cx="1346976" cy="478523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156EED3-9E21-BC6B-951D-F2914FC68A98}"/>
              </a:ext>
            </a:extLst>
          </p:cNvPr>
          <p:cNvCxnSpPr>
            <a:cxnSpLocks/>
            <a:stCxn id="64" idx="3"/>
          </p:cNvCxnSpPr>
          <p:nvPr/>
        </p:nvCxnSpPr>
        <p:spPr>
          <a:xfrm flipV="1">
            <a:off x="2167352" y="3514298"/>
            <a:ext cx="1329416" cy="1355794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8652D68-0DB3-6990-6918-EE78DE3D987D}"/>
              </a:ext>
            </a:extLst>
          </p:cNvPr>
          <p:cNvCxnSpPr>
            <a:cxnSpLocks/>
            <a:stCxn id="65" idx="3"/>
          </p:cNvCxnSpPr>
          <p:nvPr/>
        </p:nvCxnSpPr>
        <p:spPr>
          <a:xfrm flipV="1">
            <a:off x="2172483" y="3798573"/>
            <a:ext cx="1381960" cy="210651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132FF9E-F1BD-E667-E01F-0E0BEB517FC0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4302392" y="3798959"/>
            <a:ext cx="5131" cy="54464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878F7C9-712D-5126-FCE4-342FE5DE8A8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6189116" y="2918145"/>
            <a:ext cx="1104352" cy="425341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28E262A4-85BC-A987-DFF2-C03B2E4F7690}"/>
              </a:ext>
            </a:extLst>
          </p:cNvPr>
          <p:cNvSpPr/>
          <p:nvPr/>
        </p:nvSpPr>
        <p:spPr>
          <a:xfrm>
            <a:off x="3530283" y="580107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HPO : K-Fold CV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C3CC4946-4231-BDC9-1298-AA44DA81682E}"/>
              </a:ext>
            </a:extLst>
          </p:cNvPr>
          <p:cNvCxnSpPr>
            <a:cxnSpLocks/>
            <a:stCxn id="94" idx="3"/>
            <a:endCxn id="62" idx="1"/>
          </p:cNvCxnSpPr>
          <p:nvPr/>
        </p:nvCxnSpPr>
        <p:spPr>
          <a:xfrm>
            <a:off x="5084763" y="6258274"/>
            <a:ext cx="552176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09" name="Straight Arrow Connector 508">
            <a:extLst>
              <a:ext uri="{FF2B5EF4-FFF2-40B4-BE49-F238E27FC236}">
                <a16:creationId xmlns:a16="http://schemas.microsoft.com/office/drawing/2014/main" id="{175509C9-F69A-1947-F16B-D0374B7D2F77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2915450" y="1499997"/>
            <a:ext cx="609702" cy="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82" name="Rectangle: Rounded Corners 581">
            <a:extLst>
              <a:ext uri="{FF2B5EF4-FFF2-40B4-BE49-F238E27FC236}">
                <a16:creationId xmlns:a16="http://schemas.microsoft.com/office/drawing/2014/main" id="{8AD59409-A14C-E64D-73A3-2C4EE7BB5E73}"/>
              </a:ext>
            </a:extLst>
          </p:cNvPr>
          <p:cNvSpPr/>
          <p:nvPr/>
        </p:nvSpPr>
        <p:spPr>
          <a:xfrm>
            <a:off x="618003" y="2357381"/>
            <a:ext cx="1549348" cy="914400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Exploratory Analysis 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583" name="Straight Arrow Connector 582">
            <a:extLst>
              <a:ext uri="{FF2B5EF4-FFF2-40B4-BE49-F238E27FC236}">
                <a16:creationId xmlns:a16="http://schemas.microsoft.com/office/drawing/2014/main" id="{B799BC5B-8485-A3BC-50A1-D4C731EE3820}"/>
              </a:ext>
            </a:extLst>
          </p:cNvPr>
          <p:cNvCxnSpPr>
            <a:cxnSpLocks/>
            <a:stCxn id="582" idx="3"/>
          </p:cNvCxnSpPr>
          <p:nvPr/>
        </p:nvCxnSpPr>
        <p:spPr>
          <a:xfrm>
            <a:off x="2167351" y="2814581"/>
            <a:ext cx="1341284" cy="436768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591" name="Straight Arrow Connector 590">
            <a:extLst>
              <a:ext uri="{FF2B5EF4-FFF2-40B4-BE49-F238E27FC236}">
                <a16:creationId xmlns:a16="http://schemas.microsoft.com/office/drawing/2014/main" id="{D3B9B5F9-8660-70D3-44AA-D8E39564648C}"/>
              </a:ext>
            </a:extLst>
          </p:cNvPr>
          <p:cNvCxnSpPr>
            <a:cxnSpLocks/>
          </p:cNvCxnSpPr>
          <p:nvPr/>
        </p:nvCxnSpPr>
        <p:spPr>
          <a:xfrm flipH="1">
            <a:off x="5084763" y="2900470"/>
            <a:ext cx="1104352" cy="441289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24" name="Straight Arrow Connector 623">
            <a:extLst>
              <a:ext uri="{FF2B5EF4-FFF2-40B4-BE49-F238E27FC236}">
                <a16:creationId xmlns:a16="http://schemas.microsoft.com/office/drawing/2014/main" id="{0E2627AA-30FB-8252-5A08-C663C633D9C7}"/>
              </a:ext>
            </a:extLst>
          </p:cNvPr>
          <p:cNvCxnSpPr>
            <a:cxnSpLocks/>
            <a:stCxn id="24" idx="2"/>
            <a:endCxn id="94" idx="0"/>
          </p:cNvCxnSpPr>
          <p:nvPr/>
        </p:nvCxnSpPr>
        <p:spPr>
          <a:xfrm>
            <a:off x="4302392" y="5258008"/>
            <a:ext cx="5131" cy="543066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677" name="TextBox 676">
            <a:extLst>
              <a:ext uri="{FF2B5EF4-FFF2-40B4-BE49-F238E27FC236}">
                <a16:creationId xmlns:a16="http://schemas.microsoft.com/office/drawing/2014/main" id="{1263351C-9AB9-9F3E-1A06-CBF996165FBC}"/>
              </a:ext>
            </a:extLst>
          </p:cNvPr>
          <p:cNvSpPr txBox="1"/>
          <p:nvPr/>
        </p:nvSpPr>
        <p:spPr>
          <a:xfrm>
            <a:off x="609600" y="229156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Schema per Phase</a:t>
            </a:r>
            <a:endParaRPr lang="en-GB" sz="30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A1202A3-1C81-7F2E-C455-6765BD42D175}"/>
              </a:ext>
            </a:extLst>
          </p:cNvPr>
          <p:cNvSpPr/>
          <p:nvPr/>
        </p:nvSpPr>
        <p:spPr>
          <a:xfrm>
            <a:off x="1360970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AACT db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136405-1727-36E6-CA35-BB9A033D83BF}"/>
              </a:ext>
            </a:extLst>
          </p:cNvPr>
          <p:cNvSpPr/>
          <p:nvPr/>
        </p:nvSpPr>
        <p:spPr>
          <a:xfrm>
            <a:off x="3525152" y="1042797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CSV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3BA573A-42F1-DA45-C0FD-BC1655434B77}"/>
              </a:ext>
            </a:extLst>
          </p:cNvPr>
          <p:cNvSpPr/>
          <p:nvPr/>
        </p:nvSpPr>
        <p:spPr>
          <a:xfrm>
            <a:off x="5411875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Structured Data (Phases 1-4)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3AFC2A-4C62-4A4D-AEB3-32D858308FD1}"/>
              </a:ext>
            </a:extLst>
          </p:cNvPr>
          <p:cNvSpPr/>
          <p:nvPr/>
        </p:nvSpPr>
        <p:spPr>
          <a:xfrm>
            <a:off x="7315116" y="1045745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Exploratory Analysis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E293953-6562-5BA0-E21F-F083B2846EC4}"/>
              </a:ext>
            </a:extLst>
          </p:cNvPr>
          <p:cNvSpPr/>
          <p:nvPr/>
        </p:nvSpPr>
        <p:spPr>
          <a:xfrm>
            <a:off x="3519459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C46B7F-8DBD-208B-12A2-4C85460F75A9}"/>
              </a:ext>
            </a:extLst>
          </p:cNvPr>
          <p:cNvSpPr/>
          <p:nvPr/>
        </p:nvSpPr>
        <p:spPr>
          <a:xfrm>
            <a:off x="7315116" y="2896134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Test Set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1FABA48-E7BA-FC06-2FF3-7550185F508C}"/>
              </a:ext>
            </a:extLst>
          </p:cNvPr>
          <p:cNvSpPr/>
          <p:nvPr/>
        </p:nvSpPr>
        <p:spPr>
          <a:xfrm>
            <a:off x="3525152" y="4343608"/>
            <a:ext cx="1554480" cy="914400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Random Under Sample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C9E1510-0A85-CC61-2F3A-2965E5E741DD}"/>
              </a:ext>
            </a:extLst>
          </p:cNvPr>
          <p:cNvSpPr/>
          <p:nvPr/>
        </p:nvSpPr>
        <p:spPr>
          <a:xfrm>
            <a:off x="5565989" y="2349898"/>
            <a:ext cx="1246254" cy="568247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One Hot Encoding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3EC8373-4835-1D54-AC63-3CAC68B40C09}"/>
              </a:ext>
            </a:extLst>
          </p:cNvPr>
          <p:cNvSpPr/>
          <p:nvPr/>
        </p:nvSpPr>
        <p:spPr>
          <a:xfrm>
            <a:off x="9905302" y="1741559"/>
            <a:ext cx="1676391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Imbalance Sensitive Metrics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089C5E8-5913-03D2-C089-2339D56123FD}"/>
              </a:ext>
            </a:extLst>
          </p:cNvPr>
          <p:cNvSpPr/>
          <p:nvPr/>
        </p:nvSpPr>
        <p:spPr>
          <a:xfrm>
            <a:off x="9905303" y="2884559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Roc/PR Curves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4151066-3F48-9700-D69C-E46E31D40C83}"/>
              </a:ext>
            </a:extLst>
          </p:cNvPr>
          <p:cNvSpPr/>
          <p:nvPr/>
        </p:nvSpPr>
        <p:spPr>
          <a:xfrm>
            <a:off x="9887642" y="5683911"/>
            <a:ext cx="1676390" cy="914400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SHAP plots/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Logistic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FCAC43-C708-DC96-979E-E018B10CB4C5}"/>
              </a:ext>
            </a:extLst>
          </p:cNvPr>
          <p:cNvSpPr/>
          <p:nvPr/>
        </p:nvSpPr>
        <p:spPr>
          <a:xfrm>
            <a:off x="9948597" y="4318879"/>
            <a:ext cx="1554480" cy="891412"/>
          </a:xfrm>
          <a:prstGeom prst="roundRect">
            <a:avLst/>
          </a:prstGeom>
          <a:solidFill>
            <a:schemeClr val="bg2">
              <a:lumMod val="1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Best Model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90C4B18-1583-B250-C3AE-EE36D3B5F407}"/>
              </a:ext>
            </a:extLst>
          </p:cNvPr>
          <p:cNvCxnSpPr>
            <a:cxnSpLocks/>
            <a:stCxn id="4" idx="2"/>
            <a:endCxn id="31" idx="0"/>
          </p:cNvCxnSpPr>
          <p:nvPr/>
        </p:nvCxnSpPr>
        <p:spPr>
          <a:xfrm>
            <a:off x="10725837" y="5210291"/>
            <a:ext cx="0" cy="473620"/>
          </a:xfrm>
          <a:prstGeom prst="straightConnector1">
            <a:avLst/>
          </a:prstGeom>
          <a:ln w="57150">
            <a:solidFill>
              <a:schemeClr val="accent5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710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3E6068-02CB-5172-F662-3212E8C1CE9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89701670"/>
              </p:ext>
            </p:extLst>
          </p:nvPr>
        </p:nvGraphicFramePr>
        <p:xfrm>
          <a:off x="170725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97A848B3-A454-77E9-2411-EE831EF4054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076705623"/>
              </p:ext>
            </p:extLst>
          </p:nvPr>
        </p:nvGraphicFramePr>
        <p:xfrm>
          <a:off x="6174130" y="876783"/>
          <a:ext cx="5847145" cy="59146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2DFEE1D9-3445-82AA-690D-F8B09B9501C3}"/>
              </a:ext>
            </a:extLst>
          </p:cNvPr>
          <p:cNvSpPr txBox="1"/>
          <p:nvPr/>
        </p:nvSpPr>
        <p:spPr>
          <a:xfrm>
            <a:off x="609600" y="168625"/>
            <a:ext cx="10972800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000" b="1" dirty="0"/>
              <a:t>Methodology in Detail</a:t>
            </a: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1969514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F344B0-E792-5660-B4CD-3CA83C53A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802" y="1558875"/>
            <a:ext cx="10972800" cy="4879993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GB" sz="2000" b="1" dirty="0"/>
              <a:t>Logarithmic scale-Continuous features</a:t>
            </a:r>
          </a:p>
          <a:p>
            <a:pPr lvl="1"/>
            <a:r>
              <a:rPr lang="en-GB" sz="2000" dirty="0"/>
              <a:t>Distribution plots: Skewed real world data</a:t>
            </a:r>
          </a:p>
          <a:p>
            <a:pPr lvl="1"/>
            <a:r>
              <a:rPr lang="en-GB" sz="2000" dirty="0"/>
              <a:t>Distance based Models : KNN, SVC</a:t>
            </a:r>
          </a:p>
          <a:p>
            <a:pPr marL="0" indent="0">
              <a:buNone/>
            </a:pPr>
            <a:r>
              <a:rPr lang="en-GB" sz="2000" b="1" dirty="0"/>
              <a:t>Sparsity </a:t>
            </a:r>
            <a:r>
              <a:rPr lang="en-GB" sz="2000" b="1" dirty="0">
                <a:sym typeface="Wingdings" panose="05000000000000000000" pitchFamily="2" charset="2"/>
              </a:rPr>
              <a:t> </a:t>
            </a:r>
            <a:r>
              <a:rPr lang="en-GB" sz="2000" b="1" dirty="0"/>
              <a:t>Merge levels</a:t>
            </a:r>
          </a:p>
          <a:p>
            <a:pPr lvl="1"/>
            <a:r>
              <a:rPr lang="en-US" sz="2000" dirty="0"/>
              <a:t>On Train-Resampled set</a:t>
            </a:r>
            <a:endParaRPr lang="en-GB" sz="2000" dirty="0"/>
          </a:p>
          <a:p>
            <a:pPr lvl="1"/>
            <a:r>
              <a:rPr lang="en-GB" sz="2000" dirty="0"/>
              <a:t>Levels of categorical features with too small sample size in minority class</a:t>
            </a:r>
          </a:p>
          <a:p>
            <a:pPr lvl="1"/>
            <a:r>
              <a:rPr lang="en-GB" sz="2000" dirty="0"/>
              <a:t>EPV : ≥25</a:t>
            </a:r>
          </a:p>
          <a:p>
            <a:pPr marL="0" indent="0">
              <a:buNone/>
            </a:pPr>
            <a:r>
              <a:rPr lang="en-GB" sz="2000" b="1" dirty="0"/>
              <a:t>Correlation Heatmaps</a:t>
            </a:r>
          </a:p>
          <a:p>
            <a:pPr lvl="1"/>
            <a:r>
              <a:rPr lang="en-GB" sz="2000" dirty="0"/>
              <a:t>Spearman </a:t>
            </a:r>
          </a:p>
          <a:p>
            <a:pPr lvl="1"/>
            <a:r>
              <a:rPr lang="en-US" sz="2000" dirty="0"/>
              <a:t>Chi2 (</a:t>
            </a:r>
            <a:r>
              <a:rPr lang="en-GB" sz="2000" dirty="0"/>
              <a:t>Cramer-V - Phi)</a:t>
            </a:r>
          </a:p>
          <a:p>
            <a:pPr lvl="1"/>
            <a:r>
              <a:rPr lang="en-GB" sz="2000" dirty="0"/>
              <a:t>1-way-Anova (</a:t>
            </a:r>
            <a:r>
              <a:rPr lang="el-GR" sz="2000" dirty="0"/>
              <a:t>η</a:t>
            </a:r>
            <a:r>
              <a:rPr lang="el-GR" sz="2000" baseline="30000" dirty="0"/>
              <a:t>2</a:t>
            </a:r>
            <a:r>
              <a:rPr lang="el-GR" sz="2000" dirty="0"/>
              <a:t>)</a:t>
            </a:r>
            <a:endParaRPr lang="en-GB" sz="2000" dirty="0"/>
          </a:p>
          <a:p>
            <a:pPr marL="0" indent="0">
              <a:buNone/>
            </a:pPr>
            <a:r>
              <a:rPr lang="en-GB" sz="2000" b="1" dirty="0"/>
              <a:t>AIC 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Mutual Information features  (e.g., # facilities per Continents, Countries, Cities)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452C38D-9B6D-A352-EA5B-4C5BF5BB4E9C}"/>
              </a:ext>
            </a:extLst>
          </p:cNvPr>
          <p:cNvSpPr txBox="1">
            <a:spLocks/>
          </p:cNvSpPr>
          <p:nvPr/>
        </p:nvSpPr>
        <p:spPr>
          <a:xfrm>
            <a:off x="1160364" y="813489"/>
            <a:ext cx="10023676" cy="7176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Exploratory Analysis for feature Selection on Train set </a:t>
            </a: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b="1" dirty="0"/>
              <a:t>X</a:t>
            </a:r>
            <a:r>
              <a:rPr lang="en-US" sz="2000" dirty="0"/>
              <a:t> information leakage</a:t>
            </a:r>
            <a:endParaRPr lang="en-GB" sz="2000" b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8713944-C6CC-5B4C-56CF-DD77419EEBEF}"/>
              </a:ext>
            </a:extLst>
          </p:cNvPr>
          <p:cNvSpPr txBox="1">
            <a:spLocks/>
          </p:cNvSpPr>
          <p:nvPr/>
        </p:nvSpPr>
        <p:spPr>
          <a:xfrm>
            <a:off x="685802" y="328615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/>
              <a:t>Exploratory Analysis (Train Data)</a:t>
            </a:r>
            <a:endParaRPr lang="en-GB" sz="3000" i="1" dirty="0"/>
          </a:p>
        </p:txBody>
      </p:sp>
    </p:spTree>
    <p:extLst>
      <p:ext uri="{BB962C8B-B14F-4D97-AF65-F5344CB8AC3E}">
        <p14:creationId xmlns:p14="http://schemas.microsoft.com/office/powerpoint/2010/main" val="2732646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EBE9B-3914-EB9A-7C62-D2B996F95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30020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Sparsity Risk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3E199-295C-C3F2-FEEF-357550E78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27038" y="1189127"/>
            <a:ext cx="4455362" cy="2876028"/>
          </a:xfrm>
          <a:ln>
            <a:solidFill>
              <a:schemeClr val="tx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Method</a:t>
            </a:r>
          </a:p>
          <a:p>
            <a:r>
              <a:rPr lang="en-US" sz="2000" dirty="0"/>
              <a:t>EPV (Events per variable for minority outcome): ≥25 </a:t>
            </a:r>
          </a:p>
          <a:p>
            <a:r>
              <a:rPr lang="en-US" sz="2000" dirty="0"/>
              <a:t>Merge levels to related/general others: e.g., ‘Other’/’None’</a:t>
            </a:r>
          </a:p>
          <a:p>
            <a:r>
              <a:rPr lang="en-US" sz="2000" dirty="0"/>
              <a:t>No information dropped</a:t>
            </a:r>
            <a:endParaRPr lang="en-GB" sz="2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973CF0-ED55-864F-16C6-7E0268AD3B31}"/>
              </a:ext>
            </a:extLst>
          </p:cNvPr>
          <p:cNvGrpSpPr/>
          <p:nvPr/>
        </p:nvGrpSpPr>
        <p:grpSpPr>
          <a:xfrm>
            <a:off x="2586540" y="4391122"/>
            <a:ext cx="7018920" cy="2033394"/>
            <a:chOff x="5157309" y="594159"/>
            <a:chExt cx="6851931" cy="183552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39FFB14-6ED5-EFD8-FF35-BC179B296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8756"/>
            <a:stretch>
              <a:fillRect/>
            </a:stretch>
          </p:blipFill>
          <p:spPr>
            <a:xfrm>
              <a:off x="5157309" y="594159"/>
              <a:ext cx="6808022" cy="183552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330883D-514A-8A33-E65E-2EA0F3DC69D2}"/>
                </a:ext>
              </a:extLst>
            </p:cNvPr>
            <p:cNvGrpSpPr/>
            <p:nvPr/>
          </p:nvGrpSpPr>
          <p:grpSpPr>
            <a:xfrm>
              <a:off x="10043362" y="741835"/>
              <a:ext cx="1965878" cy="1687850"/>
              <a:chOff x="7799317" y="4061376"/>
              <a:chExt cx="1965878" cy="168785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272408-34BE-0155-1CC7-F6316558B794}"/>
                  </a:ext>
                </a:extLst>
              </p:cNvPr>
              <p:cNvSpPr/>
              <p:nvPr/>
            </p:nvSpPr>
            <p:spPr>
              <a:xfrm>
                <a:off x="9449764" y="5472227"/>
                <a:ext cx="30624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88040E1-943C-D2F8-3E4A-337C2357B34F}"/>
                  </a:ext>
                </a:extLst>
              </p:cNvPr>
              <p:cNvSpPr/>
              <p:nvPr/>
            </p:nvSpPr>
            <p:spPr>
              <a:xfrm>
                <a:off x="9362733" y="4061376"/>
                <a:ext cx="402462" cy="636608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110992D-FB03-67BB-0BBE-6BDD716730E9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8827664" y="4379680"/>
                <a:ext cx="535087" cy="0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3134625-F132-7B71-B743-4C0A5922D35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8824733" y="5610727"/>
                <a:ext cx="625031" cy="2758"/>
              </a:xfrm>
              <a:prstGeom prst="straightConnector1">
                <a:avLst/>
              </a:prstGeom>
              <a:ln>
                <a:solidFill>
                  <a:srgbClr val="C0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0E8D2E-2823-1F9A-3CE5-98B44B588B13}"/>
                  </a:ext>
                </a:extLst>
              </p:cNvPr>
              <p:cNvSpPr txBox="1"/>
              <p:nvPr/>
            </p:nvSpPr>
            <p:spPr>
              <a:xfrm>
                <a:off x="7799317" y="4241180"/>
                <a:ext cx="1028339" cy="416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Sparsity Risk &amp; Low EPV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7AD27B-FE4D-3C6A-6819-327D0F4DF8B4}"/>
                  </a:ext>
                </a:extLst>
              </p:cNvPr>
              <p:cNvSpPr txBox="1"/>
              <p:nvPr/>
            </p:nvSpPr>
            <p:spPr>
              <a:xfrm>
                <a:off x="7842693" y="5472227"/>
                <a:ext cx="102833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>
                    <a:solidFill>
                      <a:schemeClr val="bg1"/>
                    </a:solidFill>
                  </a:rPr>
                  <a:t>Sparse Data</a:t>
                </a:r>
                <a:endParaRPr lang="en-GB" sz="12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8EB9DB21-5C07-5D50-4678-27F3C1770CEB}"/>
              </a:ext>
            </a:extLst>
          </p:cNvPr>
          <p:cNvSpPr txBox="1">
            <a:spLocks/>
          </p:cNvSpPr>
          <p:nvPr/>
        </p:nvSpPr>
        <p:spPr>
          <a:xfrm>
            <a:off x="609600" y="1189558"/>
            <a:ext cx="6210782" cy="288088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/>
              <a:t>Sparse Data</a:t>
            </a:r>
            <a:endParaRPr lang="el-GR" sz="2000" b="1" dirty="0"/>
          </a:p>
          <a:p>
            <a:r>
              <a:rPr lang="en-US" sz="2000" dirty="0"/>
              <a:t>Categorical features</a:t>
            </a:r>
          </a:p>
          <a:p>
            <a:pPr lvl="1"/>
            <a:r>
              <a:rPr lang="en-US" sz="2000" dirty="0"/>
              <a:t>Small sample size levels of categorical features. </a:t>
            </a:r>
          </a:p>
          <a:p>
            <a:r>
              <a:rPr lang="en-US" sz="2000" dirty="0"/>
              <a:t>Continuous features</a:t>
            </a:r>
          </a:p>
          <a:p>
            <a:pPr lvl="1"/>
            <a:r>
              <a:rPr lang="en-US" sz="2000" dirty="0"/>
              <a:t>Small values all towards one outcome, large on the other</a:t>
            </a:r>
          </a:p>
          <a:p>
            <a:r>
              <a:rPr lang="en-US" sz="2000" dirty="0"/>
              <a:t>Zero sample size in any level of outcome </a:t>
            </a:r>
            <a:r>
              <a:rPr lang="en-US" sz="2000" dirty="0">
                <a:sym typeface="Wingdings" panose="05000000000000000000" pitchFamily="2" charset="2"/>
              </a:rPr>
              <a:t> Model’s fit  Inf</a:t>
            </a:r>
            <a:r>
              <a:rPr lang="en-US" sz="2000" dirty="0"/>
              <a:t> coefficients </a:t>
            </a:r>
          </a:p>
        </p:txBody>
      </p:sp>
    </p:spTree>
    <p:extLst>
      <p:ext uri="{BB962C8B-B14F-4D97-AF65-F5344CB8AC3E}">
        <p14:creationId xmlns:p14="http://schemas.microsoft.com/office/powerpoint/2010/main" val="311389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0A5BB-543A-E6BC-B214-DAC764A85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0041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Correlation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1BF4-48AB-F18F-B99C-6D42C28D61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91745"/>
            <a:ext cx="6312061" cy="3283589"/>
          </a:xfrm>
          <a:noFill/>
          <a:ln>
            <a:solidFill>
              <a:schemeClr val="tx1"/>
            </a:solidFill>
          </a:ln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Continues:</a:t>
            </a:r>
          </a:p>
          <a:p>
            <a:pPr lvl="1"/>
            <a:r>
              <a:rPr lang="en-US" sz="2000" dirty="0"/>
              <a:t>Normality test </a:t>
            </a:r>
            <a:r>
              <a:rPr lang="en-US" sz="2000" dirty="0">
                <a:sym typeface="Wingdings" panose="05000000000000000000" pitchFamily="2" charset="2"/>
              </a:rPr>
              <a:t> Spearman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Chi2  Cramer-V</a:t>
            </a:r>
          </a:p>
          <a:p>
            <a:pPr marL="0" indent="0">
              <a:buNone/>
            </a:pPr>
            <a:r>
              <a:rPr lang="en-US" sz="2000" b="1" dirty="0">
                <a:sym typeface="Wingdings" panose="05000000000000000000" pitchFamily="2" charset="2"/>
              </a:rPr>
              <a:t>Categorical-Continuous:</a:t>
            </a:r>
          </a:p>
          <a:p>
            <a:pPr lvl="1"/>
            <a:r>
              <a:rPr lang="en-US" sz="2000" dirty="0">
                <a:sym typeface="Wingdings" panose="05000000000000000000" pitchFamily="2" charset="2"/>
              </a:rPr>
              <a:t>1-way-Anova  </a:t>
            </a:r>
            <a:r>
              <a:rPr lang="el-GR" sz="2000" dirty="0">
                <a:sym typeface="Wingdings" panose="05000000000000000000" pitchFamily="2" charset="2"/>
              </a:rPr>
              <a:t>η</a:t>
            </a:r>
            <a:r>
              <a:rPr lang="el-GR" sz="2000" baseline="30000" dirty="0">
                <a:sym typeface="Wingdings" panose="05000000000000000000" pitchFamily="2" charset="2"/>
              </a:rPr>
              <a:t>2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Merge levels with relative others </a:t>
            </a:r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Feature selection for similar information predictors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43DDD4E-E012-875F-8BEF-2790662F02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75377" y="5011934"/>
            <a:ext cx="4653511" cy="16160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D4859F-8361-86CF-2C9A-AB29747D9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8887" y="1003320"/>
            <a:ext cx="4653513" cy="26343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E3335F-C327-808D-A219-1554D422F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8889" y="3637715"/>
            <a:ext cx="4653511" cy="29902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3D4F5F-5BE2-95A5-1B45-EBA09F57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705" y="4286909"/>
            <a:ext cx="4264608" cy="7134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1207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72E30-38DD-5181-224E-44A778649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5000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22220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69C1-F747-F6ED-0E60-1F80B0DD4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8B98B-948F-1006-86BA-3DFAC22F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408775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992A4-3342-4D17-D7D8-CB45D8A1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82148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Models’ Evaluation Metrics 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7BC3B-5F63-AD93-DF81-0FE7E566E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1" y="2323308"/>
            <a:ext cx="10972798" cy="3470605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500" b="1" dirty="0"/>
              <a:t>Classification Report - Confusion Matrix</a:t>
            </a:r>
          </a:p>
          <a:p>
            <a:r>
              <a:rPr lang="en-US" sz="2500" b="1" dirty="0"/>
              <a:t>MCC, Bacc, F1</a:t>
            </a:r>
            <a:r>
              <a:rPr lang="en-GB" sz="2500" b="1" dirty="0"/>
              <a:t>: </a:t>
            </a:r>
            <a:r>
              <a:rPr lang="en-US" sz="2500" b="1" dirty="0"/>
              <a:t>✓ </a:t>
            </a:r>
            <a:r>
              <a:rPr lang="en-US" sz="2500" dirty="0"/>
              <a:t>Imbalanced Dataset</a:t>
            </a:r>
          </a:p>
          <a:p>
            <a:endParaRPr lang="en-US" sz="2500" b="1" dirty="0"/>
          </a:p>
          <a:p>
            <a:r>
              <a:rPr lang="en-US" sz="2500" b="1" dirty="0"/>
              <a:t>ROC AUC: </a:t>
            </a:r>
            <a:r>
              <a:rPr lang="en-US" sz="2500" dirty="0"/>
              <a:t>Unaffected</a:t>
            </a:r>
            <a:r>
              <a:rPr lang="en-US" sz="2500" b="1" dirty="0"/>
              <a:t> </a:t>
            </a:r>
            <a:r>
              <a:rPr lang="en-US" sz="2500" dirty="0"/>
              <a:t>by class balance changes</a:t>
            </a:r>
            <a:endParaRPr lang="en-US" sz="2500" dirty="0">
              <a:sym typeface="Wingdings" panose="05000000000000000000" pitchFamily="2" charset="2"/>
            </a:endParaRPr>
          </a:p>
          <a:p>
            <a:r>
              <a:rPr lang="en-US" sz="2500" b="1" dirty="0"/>
              <a:t>PR AUC : ✓ </a:t>
            </a:r>
            <a:r>
              <a:rPr lang="en-US" sz="2500" dirty="0"/>
              <a:t>Imbalanced Dataset &amp; Minority class events </a:t>
            </a:r>
            <a:r>
              <a:rPr lang="en-US" sz="2500" dirty="0">
                <a:sym typeface="Wingdings" panose="05000000000000000000" pitchFamily="2" charset="2"/>
              </a:rPr>
              <a:t> </a:t>
            </a:r>
            <a:r>
              <a:rPr lang="en-US" sz="2500" dirty="0"/>
              <a:t>Decreased performance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F1454-93C9-84FC-C387-A62EDE27D4BC}"/>
              </a:ext>
            </a:extLst>
          </p:cNvPr>
          <p:cNvSpPr txBox="1"/>
          <p:nvPr/>
        </p:nvSpPr>
        <p:spPr>
          <a:xfrm>
            <a:off x="609600" y="1366973"/>
            <a:ext cx="1097279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Imbalance Dataset </a:t>
            </a:r>
            <a:r>
              <a:rPr lang="en-US" sz="2500" dirty="0">
                <a:sym typeface="Wingdings" panose="05000000000000000000" pitchFamily="2" charset="2"/>
              </a:rPr>
              <a:t> Completed : Terminated ≈ 85:15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1568349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3B03-5129-00F7-346A-0DAC09CCD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5308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 per Phase</a:t>
            </a:r>
            <a:endParaRPr lang="en-GB" sz="3000" b="1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DA6A5A-7725-B1F0-134E-0173B6564A6F}"/>
              </a:ext>
            </a:extLst>
          </p:cNvPr>
          <p:cNvGrpSpPr/>
          <p:nvPr/>
        </p:nvGrpSpPr>
        <p:grpSpPr>
          <a:xfrm>
            <a:off x="609600" y="891252"/>
            <a:ext cx="10972799" cy="5749315"/>
            <a:chOff x="903141" y="1034408"/>
            <a:chExt cx="10385717" cy="555099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6A154A8-F09D-B696-5854-6A2A6B3F7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3142" y="1034408"/>
              <a:ext cx="5192858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C6DEAD2-832A-A984-36BA-12DB48E8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1" y="1034408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8F1152-8CB3-CBE7-36DA-47565F0050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3141" y="3864209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088072D-F3D7-458A-C1F7-966B50499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96000" y="3866923"/>
              <a:ext cx="5192857" cy="271848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</p:spTree>
    <p:extLst>
      <p:ext uri="{BB962C8B-B14F-4D97-AF65-F5344CB8AC3E}">
        <p14:creationId xmlns:p14="http://schemas.microsoft.com/office/powerpoint/2010/main" val="3208481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18C95-FA1E-7B34-5FD5-342E1E438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36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Metrics</a:t>
            </a:r>
            <a:endParaRPr lang="en-GB" sz="3000" b="1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46AAF6-E98E-7729-EA74-A8B8F228C3C6}"/>
              </a:ext>
            </a:extLst>
          </p:cNvPr>
          <p:cNvGrpSpPr/>
          <p:nvPr/>
        </p:nvGrpSpPr>
        <p:grpSpPr>
          <a:xfrm>
            <a:off x="609600" y="1234690"/>
            <a:ext cx="10972800" cy="5456205"/>
            <a:chOff x="609600" y="1234690"/>
            <a:chExt cx="10972800" cy="545620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F0AC793-C44A-7E13-0626-EC68CE352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600" y="1234690"/>
              <a:ext cx="5277587" cy="262926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F0D2BD4-36D9-2A89-A21F-CE9F7C8DAB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38129" y="1234690"/>
              <a:ext cx="5344271" cy="264832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5A8B557-4FC9-1FDB-8CD5-080B95C8D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600" y="4033049"/>
              <a:ext cx="5277587" cy="2657846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35DCF66-D4C2-8A23-E855-7C5B6D1C9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38129" y="4033049"/>
              <a:ext cx="5344271" cy="2648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7936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FA76F-2FAB-0554-AA54-F10AD8DB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971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Models’ Performance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DAC97-AA0F-A07F-8A56-4E882F374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4431"/>
            <a:ext cx="10972800" cy="4677628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1800" b="1" dirty="0"/>
              <a:t>Boosting Models </a:t>
            </a:r>
            <a:r>
              <a:rPr lang="en-US" sz="1800" b="1" dirty="0">
                <a:sym typeface="Wingdings" panose="05000000000000000000" pitchFamily="2" charset="2"/>
              </a:rPr>
              <a:t> </a:t>
            </a:r>
            <a:r>
              <a:rPr lang="en-US" sz="1800" dirty="0"/>
              <a:t>XGBoost, LightBoost outperformed</a:t>
            </a:r>
          </a:p>
          <a:p>
            <a:pPr marL="0" indent="0">
              <a:buNone/>
            </a:pPr>
            <a:r>
              <a:rPr lang="en-US" sz="1800" b="1" dirty="0"/>
              <a:t>Stable Results in different </a:t>
            </a:r>
          </a:p>
          <a:p>
            <a:pPr lvl="1"/>
            <a:r>
              <a:rPr lang="en-US" sz="1800" dirty="0"/>
              <a:t>Methods</a:t>
            </a:r>
          </a:p>
          <a:p>
            <a:pPr lvl="1"/>
            <a:r>
              <a:rPr lang="en-US" sz="1800" dirty="0"/>
              <a:t>Dimensions</a:t>
            </a:r>
          </a:p>
          <a:p>
            <a:pPr lvl="1"/>
            <a:r>
              <a:rPr lang="en-US" sz="1800" dirty="0"/>
              <a:t>Features </a:t>
            </a:r>
          </a:p>
          <a:p>
            <a:pPr lvl="1"/>
            <a:r>
              <a:rPr lang="en-US" sz="1800" dirty="0"/>
              <a:t>Metrics: ROC PR, MCC, BA, F1</a:t>
            </a:r>
          </a:p>
          <a:p>
            <a:pPr marL="0" indent="0">
              <a:buNone/>
            </a:pPr>
            <a:r>
              <a:rPr lang="en-US" sz="1800" b="1" dirty="0"/>
              <a:t>Benefits</a:t>
            </a:r>
          </a:p>
          <a:p>
            <a:pPr lvl="1"/>
            <a:r>
              <a:rPr lang="en-US" sz="1800" dirty="0"/>
              <a:t>Residuals based (no distance based, nonparametric etc.)</a:t>
            </a:r>
          </a:p>
          <a:p>
            <a:pPr lvl="1"/>
            <a:r>
              <a:rPr lang="en-US" sz="1800" dirty="0"/>
              <a:t>Real world data (Unscaled, Skewed, Missing etc.)</a:t>
            </a:r>
          </a:p>
          <a:p>
            <a:pPr lvl="1"/>
            <a:r>
              <a:rPr lang="en-US" sz="1800" dirty="0"/>
              <a:t>Faster - Large – Imbalanced Datasets</a:t>
            </a:r>
          </a:p>
          <a:p>
            <a:pPr lvl="1"/>
            <a:r>
              <a:rPr lang="en-US" sz="1800" dirty="0"/>
              <a:t>Scalable 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DB7BB-6B63-9805-5112-B71254956724}"/>
              </a:ext>
            </a:extLst>
          </p:cNvPr>
          <p:cNvSpPr txBox="1"/>
          <p:nvPr/>
        </p:nvSpPr>
        <p:spPr>
          <a:xfrm>
            <a:off x="609600" y="5569518"/>
            <a:ext cx="1097280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buFont typeface="Wingdings" panose="05000000000000000000" pitchFamily="2" charset="2"/>
              <a:buChar char="ü"/>
            </a:pPr>
            <a:r>
              <a:rPr lang="en-US" sz="2000" b="1" dirty="0">
                <a:sym typeface="Wingdings" panose="05000000000000000000" pitchFamily="2" charset="2"/>
              </a:rPr>
              <a:t>Clinical practice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314692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6255C-EA62-FEF1-9694-58748D2C0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ED583-2CAB-0ED2-E987-A4E0E320A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0050" y="1821566"/>
            <a:ext cx="6751899" cy="3214868"/>
          </a:xfrm>
          <a:prstGeom prst="plaque">
            <a:avLst/>
          </a:prstGeom>
          <a:noFill/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Predictors</a:t>
            </a:r>
          </a:p>
        </p:txBody>
      </p:sp>
    </p:spTree>
    <p:extLst>
      <p:ext uri="{BB962C8B-B14F-4D97-AF65-F5344CB8AC3E}">
        <p14:creationId xmlns:p14="http://schemas.microsoft.com/office/powerpoint/2010/main" val="7300925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71E4C9-769D-7B7A-AAF4-AA60C90D5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23769"/>
            <a:ext cx="10972800" cy="457200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3000" b="1" dirty="0"/>
              <a:t>Features ~ Termination ~ Phases</a:t>
            </a:r>
            <a:endParaRPr lang="en-GB" sz="3000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1D5DE3-2913-0700-B818-661824D30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54" y="1620456"/>
            <a:ext cx="5372583" cy="4780343"/>
          </a:xfrm>
          <a:noFill/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pPr algn="l"/>
            <a:r>
              <a:rPr lang="en-US" sz="2000" b="1" dirty="0"/>
              <a:t>Phase 1:  </a:t>
            </a:r>
            <a:r>
              <a:rPr lang="en-GB" sz="2000" b="1" dirty="0"/>
              <a:t>Dose-Escalation | Pharmacology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Escalating dose ~ Adverse Events (e.g, MTD)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GB" dirty="0"/>
          </a:p>
          <a:p>
            <a:pPr algn="l"/>
            <a:r>
              <a:rPr lang="en-GB" sz="2000" b="1" dirty="0"/>
              <a:t>Phase 2:  Therapeutic Exploratory</a:t>
            </a:r>
            <a:endParaRPr lang="en-US" sz="20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Safety, Pharmaco-dynamics-kinetics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Early</a:t>
            </a:r>
            <a:r>
              <a:rPr lang="el-GR" sz="2000" dirty="0"/>
              <a:t> </a:t>
            </a:r>
            <a:r>
              <a:rPr lang="en-US" sz="2000" dirty="0"/>
              <a:t>efficacy data</a:t>
            </a:r>
            <a:r>
              <a:rPr lang="el-GR" sz="2000" dirty="0"/>
              <a:t> </a:t>
            </a:r>
            <a:r>
              <a:rPr lang="en-GB" sz="2000" dirty="0"/>
              <a:t>(transitional to phase 3)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1</a:t>
            </a:r>
            <a:r>
              <a:rPr lang="en-US" sz="2000" baseline="30000" dirty="0"/>
              <a:t>st</a:t>
            </a:r>
            <a:r>
              <a:rPr lang="en-US" sz="2000" dirty="0"/>
              <a:t> scaled phase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6DB2BA2-C66A-5EC1-F184-C2C46DC0A30F}"/>
              </a:ext>
            </a:extLst>
          </p:cNvPr>
          <p:cNvSpPr txBox="1">
            <a:spLocks/>
          </p:cNvSpPr>
          <p:nvPr/>
        </p:nvSpPr>
        <p:spPr>
          <a:xfrm>
            <a:off x="6219465" y="1620456"/>
            <a:ext cx="5362935" cy="47803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3:</a:t>
            </a:r>
            <a:r>
              <a:rPr kumimoji="0" lang="el-G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Therapeutic Confirmatory | Comparative Efficacy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Treatments vs placebo/standard/active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Frequent Adverse Events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Study Design highly important </a:t>
            </a:r>
            <a:r>
              <a:rPr lang="en-GB" sz="2000" dirty="0">
                <a:solidFill>
                  <a:prstClr val="black"/>
                </a:solidFill>
                <a:latin typeface="Aptos" panose="02110004020202020204"/>
              </a:rPr>
              <a:t>- 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Scaled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Phase 4: Therapeutic Use | Post-Marketing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Rare Adverse Events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Differences in dose-efficiency in population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After drug approval - Cost Estimation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6101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718A182-FD34-0FCF-F841-2D21F0DFE300}"/>
              </a:ext>
            </a:extLst>
          </p:cNvPr>
          <p:cNvSpPr txBox="1">
            <a:spLocks/>
          </p:cNvSpPr>
          <p:nvPr/>
        </p:nvSpPr>
        <p:spPr>
          <a:xfrm>
            <a:off x="609601" y="1817225"/>
            <a:ext cx="6913943" cy="421318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000" b="1" dirty="0"/>
              <a:t>SHAP plots</a:t>
            </a:r>
          </a:p>
          <a:p>
            <a:r>
              <a:rPr lang="en-GB" sz="2000" dirty="0"/>
              <a:t>ML interpretability</a:t>
            </a:r>
          </a:p>
          <a:p>
            <a:r>
              <a:rPr lang="en-GB" sz="2000" dirty="0"/>
              <a:t>Data Points: </a:t>
            </a:r>
            <a:r>
              <a:rPr lang="el-GR" sz="2000" dirty="0"/>
              <a:t>φ</a:t>
            </a:r>
            <a:r>
              <a:rPr lang="en-US" sz="2000" dirty="0"/>
              <a:t> values</a:t>
            </a:r>
            <a:endParaRPr lang="en-GB" sz="2000" dirty="0"/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accent5"/>
                </a:solidFill>
              </a:rPr>
              <a:t>Pink</a:t>
            </a:r>
            <a:r>
              <a:rPr lang="en-GB" sz="20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 High feature’s values </a:t>
            </a:r>
          </a:p>
          <a:p>
            <a:pPr lvl="1">
              <a:buClr>
                <a:schemeClr val="tx1"/>
              </a:buClr>
              <a:buFont typeface="Courier New" panose="02070309020205020404" pitchFamily="49" charset="0"/>
              <a:buChar char="o"/>
            </a:pPr>
            <a:r>
              <a:rPr lang="en-GB" sz="2000" dirty="0">
                <a:solidFill>
                  <a:schemeClr val="tx2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Blue</a:t>
            </a:r>
            <a:r>
              <a:rPr lang="en-GB" sz="2000" dirty="0">
                <a:sym typeface="Wingdings" panose="05000000000000000000" pitchFamily="2" charset="2"/>
              </a:rPr>
              <a:t>  Low feature’s values</a:t>
            </a:r>
          </a:p>
          <a:p>
            <a:r>
              <a:rPr lang="en-GB" sz="2000" dirty="0">
                <a:sym typeface="Wingdings" panose="05000000000000000000" pitchFamily="2" charset="2"/>
              </a:rPr>
              <a:t>X-axis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Right  Positive contribution to termination log-Odds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>
                <a:sym typeface="Wingdings" panose="05000000000000000000" pitchFamily="2" charset="2"/>
              </a:rPr>
              <a:t>Left  Negative contribution to termination log-Odds</a:t>
            </a:r>
            <a:endParaRPr lang="en-GB" sz="20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9B178F-70A2-E2FE-5F28-1D58CF945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61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Features’ Evaluation Metrics </a:t>
            </a:r>
            <a:endParaRPr lang="en-GB" sz="3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C1F51DB-A1C3-E7AE-73E7-24425577E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8501" y="1724738"/>
            <a:ext cx="3703898" cy="4396132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19405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DF65-6188-8376-76BA-FBFCD6D58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80042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2500" b="1" dirty="0"/>
              <a:t>Features ~ Termination ~ Phases</a:t>
            </a:r>
            <a:endParaRPr lang="en-GB" sz="2500" b="1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5C83E6-6CA1-EDD4-B08C-006113AE0A92}"/>
              </a:ext>
            </a:extLst>
          </p:cNvPr>
          <p:cNvGrpSpPr/>
          <p:nvPr/>
        </p:nvGrpSpPr>
        <p:grpSpPr>
          <a:xfrm>
            <a:off x="609584" y="1372515"/>
            <a:ext cx="10972809" cy="5493080"/>
            <a:chOff x="-1216942" y="-167604"/>
            <a:chExt cx="13772730" cy="7308093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5ECBC4A-2B11-4B08-C8A3-6AFC40E86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216942" y="-106705"/>
              <a:ext cx="6009820" cy="307667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40838F-7595-383B-355B-AEE11B633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45968" y="-167604"/>
              <a:ext cx="6009820" cy="318311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D899AEF-0831-6AD2-3F78-AF8C38DC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216937" y="4083595"/>
              <a:ext cx="6009818" cy="3056893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2F43B33-35A2-AA1D-7450-44DF1C046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45971" y="4083592"/>
              <a:ext cx="6009817" cy="305689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157105E-7036-C9DB-AF3D-6B1F8BACAAB8}"/>
              </a:ext>
            </a:extLst>
          </p:cNvPr>
          <p:cNvSpPr txBox="1"/>
          <p:nvPr/>
        </p:nvSpPr>
        <p:spPr>
          <a:xfrm>
            <a:off x="609585" y="586338"/>
            <a:ext cx="54864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Phase 1:  </a:t>
            </a:r>
            <a:r>
              <a:rPr lang="en-GB" sz="1400" b="1" dirty="0"/>
              <a:t>Dose-Escalation | Pharmacology</a:t>
            </a:r>
            <a:endParaRPr lang="en-US" sz="1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Escalating dose ~ Adverse Events (e.g, MTD)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New treatment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13CD2D-5BC6-5FE6-BAF8-EE6413BD5ECA}"/>
              </a:ext>
            </a:extLst>
          </p:cNvPr>
          <p:cNvSpPr txBox="1"/>
          <p:nvPr/>
        </p:nvSpPr>
        <p:spPr>
          <a:xfrm>
            <a:off x="6794350" y="586338"/>
            <a:ext cx="47880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Phase 2:  Therapeutic Exploratory</a:t>
            </a:r>
            <a:endParaRPr lang="en-US" sz="1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Safety, Pharmaco-dynamics-kinetics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Early</a:t>
            </a:r>
            <a:r>
              <a:rPr lang="el-GR" sz="1400" dirty="0"/>
              <a:t> </a:t>
            </a:r>
            <a:r>
              <a:rPr lang="en-US" sz="1400" dirty="0"/>
              <a:t>efficacy data</a:t>
            </a:r>
            <a:r>
              <a:rPr lang="el-GR" sz="1400" dirty="0"/>
              <a:t> </a:t>
            </a:r>
            <a:r>
              <a:rPr lang="en-GB" sz="1400" dirty="0"/>
              <a:t>(transitional to phase 3)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400" dirty="0"/>
              <a:t>1</a:t>
            </a:r>
            <a:r>
              <a:rPr lang="en-US" sz="1400" baseline="30000" dirty="0"/>
              <a:t>st</a:t>
            </a:r>
            <a:r>
              <a:rPr lang="en-US" sz="1400" dirty="0"/>
              <a:t> scaled phase </a:t>
            </a:r>
            <a:r>
              <a:rPr lang="en-US" sz="1400" dirty="0">
                <a:sym typeface="Wingdings" panose="05000000000000000000" pitchFamily="2" charset="2"/>
              </a:rPr>
              <a:t> Study Design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A98218-EA23-4A6D-9448-7DE23C28E4B4}"/>
              </a:ext>
            </a:extLst>
          </p:cNvPr>
          <p:cNvSpPr txBox="1"/>
          <p:nvPr/>
        </p:nvSpPr>
        <p:spPr>
          <a:xfrm>
            <a:off x="609584" y="3730356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Bef>
                <a:spcPts val="1000"/>
              </a:spcBef>
              <a:defRPr/>
            </a:pPr>
            <a:r>
              <a:rPr lang="en-GB" sz="1400" b="1" dirty="0">
                <a:solidFill>
                  <a:prstClr val="black"/>
                </a:solidFill>
              </a:rPr>
              <a:t>Phase 3:</a:t>
            </a:r>
            <a:r>
              <a:rPr lang="el-GR" sz="1400" b="1" dirty="0">
                <a:solidFill>
                  <a:prstClr val="black"/>
                </a:solidFill>
              </a:rPr>
              <a:t> </a:t>
            </a:r>
            <a:r>
              <a:rPr lang="en-GB" sz="1400" b="1" dirty="0">
                <a:solidFill>
                  <a:prstClr val="black"/>
                </a:solidFill>
              </a:rPr>
              <a:t>Therapeutic Confirmatory | Comparative Efficacy</a:t>
            </a:r>
            <a:endParaRPr lang="en-US" sz="1400" b="1" dirty="0">
              <a:solidFill>
                <a:prstClr val="black"/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/>
              <a:t>Treatments vs placebo/standard/active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/>
              <a:t>Frequent Adverse Events</a:t>
            </a:r>
            <a:endParaRPr lang="en-GB" sz="1400" dirty="0"/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GB" sz="1400" dirty="0"/>
              <a:t>Study Design highly important - Scaled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9E670E-5B45-0FA6-9975-323AFAF49A6A}"/>
              </a:ext>
            </a:extLst>
          </p:cNvPr>
          <p:cNvSpPr txBox="1"/>
          <p:nvPr/>
        </p:nvSpPr>
        <p:spPr>
          <a:xfrm>
            <a:off x="6794325" y="3730356"/>
            <a:ext cx="47880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400" b="1" dirty="0">
                <a:solidFill>
                  <a:prstClr val="black"/>
                </a:solidFill>
              </a:rPr>
              <a:t>Phase 4: Therapeutic Use | Post-Marketing</a:t>
            </a:r>
          </a:p>
          <a:p>
            <a:pPr marL="34290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After drug approval - Cost Estimation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Rare Adverse Events</a:t>
            </a:r>
          </a:p>
          <a:p>
            <a:pPr marL="342900" lvl="0" indent="-342900">
              <a:buFont typeface="Arial" panose="020B0604020202020204" pitchFamily="34" charset="0"/>
              <a:buChar char="•"/>
              <a:defRPr/>
            </a:pPr>
            <a:r>
              <a:rPr lang="en-US" sz="1400" dirty="0">
                <a:solidFill>
                  <a:prstClr val="black"/>
                </a:solidFill>
              </a:rPr>
              <a:t>Differences in dose-efficiency in population</a:t>
            </a:r>
          </a:p>
        </p:txBody>
      </p:sp>
    </p:spTree>
    <p:extLst>
      <p:ext uri="{BB962C8B-B14F-4D97-AF65-F5344CB8AC3E}">
        <p14:creationId xmlns:p14="http://schemas.microsoft.com/office/powerpoint/2010/main" val="18399873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A267CFC-FE1A-6148-04CC-A306D34EA55F}"/>
              </a:ext>
            </a:extLst>
          </p:cNvPr>
          <p:cNvSpPr txBox="1">
            <a:spLocks/>
          </p:cNvSpPr>
          <p:nvPr/>
        </p:nvSpPr>
        <p:spPr>
          <a:xfrm>
            <a:off x="609599" y="182572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000" b="1" dirty="0"/>
              <a:t>Logistic Interpretation</a:t>
            </a:r>
            <a:endParaRPr lang="en-GB" sz="3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3BBFA7-4629-E836-75B9-68C844D60F68}"/>
              </a:ext>
            </a:extLst>
          </p:cNvPr>
          <p:cNvSpPr txBox="1"/>
          <p:nvPr/>
        </p:nvSpPr>
        <p:spPr>
          <a:xfrm>
            <a:off x="609599" y="692211"/>
            <a:ext cx="10972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Top model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SHAP </a:t>
            </a:r>
            <a:r>
              <a:rPr lang="en-US" dirty="0">
                <a:sym typeface="Wingdings" panose="05000000000000000000" pitchFamily="2" charset="2"/>
              </a:rPr>
              <a:t> 8 top features (Dimension/Noise ~ Logistic &amp; Pattern)</a:t>
            </a:r>
            <a:endParaRPr lang="en-US" dirty="0"/>
          </a:p>
          <a:p>
            <a:pPr algn="ctr"/>
            <a:endParaRPr lang="en-US" dirty="0"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ym typeface="Wingdings" panose="05000000000000000000" pitchFamily="2" charset="2"/>
              </a:rPr>
              <a:t>SHAP ≠ Logistic Interpretation  Significance, Direction </a:t>
            </a:r>
          </a:p>
          <a:p>
            <a:pPr algn="ctr"/>
            <a:endParaRPr lang="en-US" dirty="0">
              <a:sym typeface="Wingdings" panose="05000000000000000000" pitchFamily="2" charset="2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Enrollment </a:t>
            </a:r>
            <a:r>
              <a:rPr lang="en-US" dirty="0">
                <a:sym typeface="Wingdings" panose="05000000000000000000" pitchFamily="2" charset="2"/>
              </a:rPr>
              <a:t> Sparse effect  coeff towards inf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Adverse  Non-sig.  Non-linear relationship (SHAP overlap)</a:t>
            </a:r>
            <a:endParaRPr lang="en-GB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4DE4CD8-CDD8-E203-2B16-4FACB812C622}"/>
              </a:ext>
            </a:extLst>
          </p:cNvPr>
          <p:cNvGrpSpPr/>
          <p:nvPr/>
        </p:nvGrpSpPr>
        <p:grpSpPr>
          <a:xfrm>
            <a:off x="609599" y="2556760"/>
            <a:ext cx="10972800" cy="4301240"/>
            <a:chOff x="609599" y="2556760"/>
            <a:chExt cx="10972800" cy="430124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E7AD118-D083-DDEE-7178-E43F222AB673}"/>
                </a:ext>
              </a:extLst>
            </p:cNvPr>
            <p:cNvGrpSpPr/>
            <p:nvPr/>
          </p:nvGrpSpPr>
          <p:grpSpPr>
            <a:xfrm>
              <a:off x="609599" y="2556760"/>
              <a:ext cx="10972800" cy="4301240"/>
              <a:chOff x="985519" y="2414090"/>
              <a:chExt cx="10220961" cy="393512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1A46AA44-BBA8-2CE7-94B5-D18DA91BEFE0}"/>
                  </a:ext>
                </a:extLst>
              </p:cNvPr>
              <p:cNvGrpSpPr/>
              <p:nvPr/>
            </p:nvGrpSpPr>
            <p:grpSpPr>
              <a:xfrm>
                <a:off x="985519" y="2414093"/>
                <a:ext cx="10220961" cy="3935120"/>
                <a:chOff x="609599" y="2464893"/>
                <a:chExt cx="10220961" cy="3935120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9EDA3562-9FB6-36FB-68CB-62B11B520B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09600" y="2464893"/>
                  <a:ext cx="5033176" cy="1917139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10" name="Picture 9">
                  <a:extLst>
                    <a:ext uri="{FF2B5EF4-FFF2-40B4-BE49-F238E27FC236}">
                      <a16:creationId xmlns:a16="http://schemas.microsoft.com/office/drawing/2014/main" id="{79234098-89AC-01BC-B93C-378EFF65637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09599" y="4482875"/>
                  <a:ext cx="5033177" cy="1917138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0ED05DC4-10F4-02E4-D5C3-814C3B09C2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97383" y="4482875"/>
                  <a:ext cx="5033177" cy="1917138"/>
                </a:xfrm>
                <a:prstGeom prst="rect">
                  <a:avLst/>
                </a:prstGeom>
                <a:ln>
                  <a:noFill/>
                </a:ln>
                <a:effectLst>
                  <a:softEdge rad="112500"/>
                </a:effectLst>
              </p:spPr>
            </p:pic>
          </p:grp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3ABFA820-5483-9521-8C6E-915EE34A5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73303" y="2414090"/>
                <a:ext cx="5033176" cy="1917139"/>
              </a:xfrm>
              <a:prstGeom prst="rect">
                <a:avLst/>
              </a:prstGeom>
              <a:ln>
                <a:noFill/>
              </a:ln>
              <a:effectLst>
                <a:softEdge rad="112500"/>
              </a:effectLst>
            </p:spPr>
          </p:pic>
        </p:grp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7354A09-3670-2A84-AE1A-8F1DBAA5939A}"/>
                </a:ext>
              </a:extLst>
            </p:cNvPr>
            <p:cNvCxnSpPr/>
            <p:nvPr/>
          </p:nvCxnSpPr>
          <p:spPr>
            <a:xfrm>
              <a:off x="2389015" y="3286129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D3CAE37-E11C-EC06-E5DD-09A661000FF9}"/>
                </a:ext>
              </a:extLst>
            </p:cNvPr>
            <p:cNvCxnSpPr/>
            <p:nvPr/>
          </p:nvCxnSpPr>
          <p:spPr>
            <a:xfrm>
              <a:off x="8563645" y="3818334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C1DC3F0-9B34-D374-BE71-99BCAC8E9ADA}"/>
                </a:ext>
              </a:extLst>
            </p:cNvPr>
            <p:cNvCxnSpPr/>
            <p:nvPr/>
          </p:nvCxnSpPr>
          <p:spPr>
            <a:xfrm>
              <a:off x="10026685" y="3818334"/>
              <a:ext cx="548640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021753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B8F6-86CD-F67C-A5AC-A96346005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1977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Features </a:t>
            </a:r>
            <a:r>
              <a:rPr lang="en-US" sz="3000" b="1"/>
              <a:t>Evaluation Summary</a:t>
            </a:r>
            <a:endParaRPr lang="en-GB" sz="3000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97345AD-832D-F3D6-8EAB-FB12F55F6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23856"/>
            <a:ext cx="5364480" cy="4903748"/>
          </a:xfrm>
          <a:ln>
            <a:solidFill>
              <a:schemeClr val="tx1"/>
            </a:solidFill>
          </a:ln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u="sng" dirty="0"/>
              <a:t>Best Predictors</a:t>
            </a:r>
            <a:endParaRPr lang="en-US" b="1" dirty="0"/>
          </a:p>
          <a:p>
            <a:r>
              <a:rPr lang="en-US" sz="2400" dirty="0"/>
              <a:t>Enrollment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</a:p>
          <a:p>
            <a:r>
              <a:rPr lang="en-US" sz="2400" dirty="0"/>
              <a:t># Facilities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US" sz="2400" dirty="0"/>
          </a:p>
          <a:p>
            <a:r>
              <a:rPr lang="en-US" sz="2400" dirty="0"/>
              <a:t>Conditions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Healthy Volunteers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</a:p>
          <a:p>
            <a:r>
              <a:rPr lang="en-US" sz="2400" dirty="0"/>
              <a:t># Arms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  <a:endParaRPr lang="en-US" sz="2400" dirty="0"/>
          </a:p>
          <a:p>
            <a:r>
              <a:rPr lang="en-GB" sz="2400" dirty="0"/>
              <a:t>Older age </a:t>
            </a:r>
            <a:r>
              <a:rPr lang="en-US" sz="2400" dirty="0">
                <a:solidFill>
                  <a:schemeClr val="accent5"/>
                </a:solidFill>
              </a:rPr>
              <a:t>+</a:t>
            </a:r>
          </a:p>
          <a:p>
            <a:r>
              <a:rPr lang="en-US" sz="2400" dirty="0"/>
              <a:t># Adverse</a:t>
            </a:r>
            <a:r>
              <a:rPr lang="en-US" sz="2400" dirty="0">
                <a:solidFill>
                  <a:schemeClr val="accent5"/>
                </a:solidFill>
              </a:rPr>
              <a:t> –</a:t>
            </a:r>
            <a:endParaRPr lang="en-GB" sz="2400" dirty="0"/>
          </a:p>
          <a:p>
            <a:r>
              <a:rPr lang="en-US" sz="2400" dirty="0"/>
              <a:t>Interv. Model: Parallel </a:t>
            </a:r>
            <a:r>
              <a:rPr lang="en-US" sz="2400" dirty="0">
                <a:solidFill>
                  <a:schemeClr val="accent5"/>
                </a:solidFill>
              </a:rPr>
              <a:t>+ </a:t>
            </a:r>
            <a:r>
              <a:rPr lang="en-US" sz="2400" dirty="0"/>
              <a:t>,  Crossover </a:t>
            </a:r>
            <a:r>
              <a:rPr lang="en-US" sz="2400" dirty="0">
                <a:solidFill>
                  <a:schemeClr val="accent5"/>
                </a:solidFill>
              </a:rPr>
              <a:t>-</a:t>
            </a:r>
            <a:endParaRPr lang="en-US" sz="2400" dirty="0"/>
          </a:p>
          <a:p>
            <a:r>
              <a:rPr lang="en-GB" sz="2400" dirty="0"/>
              <a:t>Allocation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Placebo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</a:p>
          <a:p>
            <a:r>
              <a:rPr lang="en-US" sz="2400" dirty="0"/>
              <a:t>Funder Industry</a:t>
            </a:r>
            <a:r>
              <a:rPr lang="en-US" sz="2400" dirty="0">
                <a:solidFill>
                  <a:schemeClr val="accent5"/>
                </a:solidFill>
              </a:rPr>
              <a:t> +</a:t>
            </a:r>
            <a:endParaRPr lang="en-GB" sz="24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AFD135F-78E3-632E-FA22-F645956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720641"/>
            <a:ext cx="5364480" cy="4903748"/>
          </a:xfrm>
          <a:ln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u="sng" dirty="0"/>
              <a:t>Predictors vs Phases</a:t>
            </a:r>
          </a:p>
          <a:p>
            <a:pPr marL="0" indent="0" algn="ctr">
              <a:buNone/>
            </a:pPr>
            <a:endParaRPr lang="en-US" sz="2600" b="1" u="sng" dirty="0"/>
          </a:p>
          <a:p>
            <a:pPr lvl="0"/>
            <a:r>
              <a:rPr lang="en-GB" sz="2400" dirty="0"/>
              <a:t>Phase 1: New treatment ~ Health status </a:t>
            </a:r>
          </a:p>
          <a:p>
            <a:pPr lvl="0"/>
            <a:r>
              <a:rPr lang="en-GB" sz="2400" dirty="0"/>
              <a:t>Phase 2: Safety, Pharmacokinetics ~ Adverse, Therapeutic, Sponsor</a:t>
            </a:r>
          </a:p>
          <a:p>
            <a:pPr lvl="0"/>
            <a:r>
              <a:rPr lang="en-GB" sz="2400" dirty="0"/>
              <a:t>Phase 3: Design, Treatment comp. ~ Design, Treatment characteristics</a:t>
            </a:r>
          </a:p>
          <a:p>
            <a:pPr lvl="0"/>
            <a:r>
              <a:rPr lang="en-GB" sz="2400" dirty="0"/>
              <a:t>Phase 4: Approved Treatment ~ Intervention characteristics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sz="2400" dirty="0">
                <a:sym typeface="Wingdings" panose="05000000000000000000" pitchFamily="2" charset="2"/>
              </a:rPr>
              <a:t>Enrollment &amp; City Counts  Strongest predictors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52800C-A200-F692-1890-42672D83430D}"/>
              </a:ext>
            </a:extLst>
          </p:cNvPr>
          <p:cNvSpPr txBox="1"/>
          <p:nvPr/>
        </p:nvSpPr>
        <p:spPr>
          <a:xfrm>
            <a:off x="609600" y="924560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</a:rPr>
              <a:t>+ : 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Terminated</a:t>
            </a:r>
          </a:p>
          <a:p>
            <a:pPr algn="ctr"/>
            <a:r>
              <a:rPr lang="en-US" b="1" dirty="0">
                <a:solidFill>
                  <a:schemeClr val="accent5"/>
                </a:solidFill>
              </a:rPr>
              <a:t>-  : High feature’s values </a:t>
            </a:r>
            <a:r>
              <a:rPr lang="en-US" b="1" dirty="0">
                <a:solidFill>
                  <a:schemeClr val="accent5"/>
                </a:solidFill>
                <a:sym typeface="Wingdings" panose="05000000000000000000" pitchFamily="2" charset="2"/>
              </a:rPr>
              <a:t> Completed</a:t>
            </a:r>
          </a:p>
        </p:txBody>
      </p:sp>
    </p:spTree>
    <p:extLst>
      <p:ext uri="{BB962C8B-B14F-4D97-AF65-F5344CB8AC3E}">
        <p14:creationId xmlns:p14="http://schemas.microsoft.com/office/powerpoint/2010/main" val="15839964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19BEF67-252A-CEAE-43ED-F027351B4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427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Withdrawn Analysis</a:t>
            </a:r>
            <a:endParaRPr lang="en-GB" sz="3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9D6BE7-05AE-64F8-4DB8-D2CE59F9D843}"/>
              </a:ext>
            </a:extLst>
          </p:cNvPr>
          <p:cNvSpPr txBox="1"/>
          <p:nvPr/>
        </p:nvSpPr>
        <p:spPr>
          <a:xfrm>
            <a:off x="6289860" y="4483942"/>
            <a:ext cx="529253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Facilities</a:t>
            </a:r>
            <a:r>
              <a:rPr lang="en-US" dirty="0">
                <a:solidFill>
                  <a:schemeClr val="accent5"/>
                </a:solidFill>
              </a:rPr>
              <a:t> –  </a:t>
            </a:r>
            <a:r>
              <a:rPr lang="en-US" dirty="0"/>
              <a:t>: Opposite sign</a:t>
            </a:r>
            <a:endParaRPr lang="en-US" dirty="0">
              <a:solidFill>
                <a:schemeClr val="accent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Funder </a:t>
            </a:r>
            <a:r>
              <a:rPr lang="en-US" dirty="0">
                <a:solidFill>
                  <a:schemeClr val="accent5"/>
                </a:solidFill>
              </a:rPr>
              <a:t>–  </a:t>
            </a:r>
            <a:r>
              <a:rPr lang="en-US" dirty="0"/>
              <a:t>: Opposite 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Healthy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Arms </a:t>
            </a:r>
            <a:r>
              <a:rPr lang="en-US" dirty="0">
                <a:solidFill>
                  <a:schemeClr val="accent5"/>
                </a:solidFill>
              </a:rPr>
              <a:t>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Condition </a:t>
            </a:r>
            <a:r>
              <a:rPr lang="en-US" dirty="0">
                <a:solidFill>
                  <a:schemeClr val="accent5"/>
                </a:solidFill>
              </a:rPr>
              <a:t>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Placebo</a:t>
            </a:r>
            <a:r>
              <a:rPr lang="en-US" dirty="0">
                <a:solidFill>
                  <a:schemeClr val="accent5"/>
                </a:solidFill>
              </a:rPr>
              <a:t> 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DC2C3-357E-2FCF-83FD-9EEBB4031356}"/>
              </a:ext>
            </a:extLst>
          </p:cNvPr>
          <p:cNvSpPr txBox="1"/>
          <p:nvPr/>
        </p:nvSpPr>
        <p:spPr>
          <a:xfrm>
            <a:off x="609600" y="906508"/>
            <a:ext cx="1097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Enrollment | Adverse events </a:t>
            </a:r>
            <a:r>
              <a:rPr lang="en-US" dirty="0">
                <a:sym typeface="Wingdings" panose="05000000000000000000" pitchFamily="2" charset="2"/>
              </a:rPr>
              <a:t> Removed</a:t>
            </a:r>
          </a:p>
          <a:p>
            <a:pPr algn="ctr"/>
            <a:r>
              <a:rPr lang="en-US" dirty="0">
                <a:sym typeface="Wingdings" panose="05000000000000000000" pitchFamily="2" charset="2"/>
              </a:rPr>
              <a:t>Withdrawn vs Terminated  Direction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01FBF-FCA8-A5E3-357F-3BAF58495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675048"/>
            <a:ext cx="529253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9FF48F-CED8-DBEB-9B3C-AE89FB7B2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02" y="4483942"/>
            <a:ext cx="4214457" cy="203132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F6916B7-18EC-378D-B63E-A62C2B29B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599" y="1675048"/>
            <a:ext cx="5224799" cy="26866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342624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79714B-1FF3-323E-6749-EA95E8C45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4078580"/>
            <a:ext cx="10972800" cy="2657890"/>
          </a:xfrm>
          <a:ln>
            <a:noFill/>
          </a:ln>
        </p:spPr>
        <p:txBody>
          <a:bodyPr anchor="ctr">
            <a:noAutofit/>
          </a:bodyPr>
          <a:lstStyle/>
          <a:p>
            <a:pPr marL="3206750"/>
            <a:r>
              <a:rPr lang="en-GB" sz="1800" dirty="0"/>
              <a:t>Enrollment</a:t>
            </a:r>
          </a:p>
          <a:p>
            <a:pPr marL="3206750"/>
            <a:r>
              <a:rPr lang="en-GB" sz="1800" dirty="0"/>
              <a:t>Disease category (e.g., neoplasms) </a:t>
            </a:r>
            <a:r>
              <a:rPr lang="en-GB" sz="1800" dirty="0">
                <a:sym typeface="Wingdings" panose="05000000000000000000" pitchFamily="2" charset="2"/>
              </a:rPr>
              <a:t> Affects enrollment</a:t>
            </a:r>
            <a:endParaRPr lang="en-GB" sz="1800" dirty="0"/>
          </a:p>
          <a:p>
            <a:pPr marL="3206750"/>
            <a:r>
              <a:rPr lang="en-GB" sz="1800" dirty="0"/>
              <a:t>Number of facilities </a:t>
            </a:r>
            <a:r>
              <a:rPr lang="en-GB" sz="1800" dirty="0">
                <a:sym typeface="Wingdings" panose="05000000000000000000" pitchFamily="2" charset="2"/>
              </a:rPr>
              <a:t> Also, affects enrollment</a:t>
            </a:r>
            <a:endParaRPr lang="en-GB" sz="1800" dirty="0"/>
          </a:p>
          <a:p>
            <a:pPr marL="3206750"/>
            <a:r>
              <a:rPr lang="en-GB" sz="1800" dirty="0"/>
              <a:t>Healthy Volunteers</a:t>
            </a:r>
          </a:p>
          <a:p>
            <a:pPr marL="3206750"/>
            <a:r>
              <a:rPr lang="en-GB" sz="1800" dirty="0"/>
              <a:t>Number of Adverse Events</a:t>
            </a:r>
          </a:p>
          <a:p>
            <a:pPr marL="3206750"/>
            <a:r>
              <a:rPr lang="en-GB" sz="1800" dirty="0"/>
              <a:t>Funder type (e.g., non-Industry)</a:t>
            </a:r>
          </a:p>
          <a:p>
            <a:pPr marL="3206750"/>
            <a:r>
              <a:rPr lang="en-GB" sz="1800" dirty="0"/>
              <a:t>Other (e., Administrative, supplies etc.)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AA6C9D-2E20-3FDC-E624-B09367AC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226916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GB" sz="3200" b="1" dirty="0"/>
              <a:t>Termination &amp; Withdrawn Descriptives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8B01A7-91F3-6875-4CD6-3BD2CA6131EB}"/>
              </a:ext>
            </a:extLst>
          </p:cNvPr>
          <p:cNvSpPr txBox="1"/>
          <p:nvPr/>
        </p:nvSpPr>
        <p:spPr>
          <a:xfrm>
            <a:off x="609600" y="241776"/>
            <a:ext cx="1097280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Current – Background Research Alignment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C81A22-9F3E-3963-5EB9-300275B01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047" y="1999948"/>
            <a:ext cx="8535906" cy="116306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50E4AEB-EFCC-184B-E286-4074CCA76B6D}"/>
              </a:ext>
            </a:extLst>
          </p:cNvPr>
          <p:cNvSpPr txBox="1">
            <a:spLocks/>
          </p:cNvSpPr>
          <p:nvPr/>
        </p:nvSpPr>
        <p:spPr>
          <a:xfrm>
            <a:off x="609600" y="3478840"/>
            <a:ext cx="10972800" cy="4572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200" b="1" dirty="0"/>
              <a:t>Background Research</a:t>
            </a:r>
          </a:p>
        </p:txBody>
      </p:sp>
    </p:spTree>
    <p:extLst>
      <p:ext uri="{BB962C8B-B14F-4D97-AF65-F5344CB8AC3E}">
        <p14:creationId xmlns:p14="http://schemas.microsoft.com/office/powerpoint/2010/main" val="3796561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F17E-F8F5-06F4-FC0D-300EA7F02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Discussion</a:t>
            </a:r>
            <a:endParaRPr lang="en-GB" sz="5000" b="1" dirty="0"/>
          </a:p>
        </p:txBody>
      </p:sp>
    </p:spTree>
    <p:extLst>
      <p:ext uri="{BB962C8B-B14F-4D97-AF65-F5344CB8AC3E}">
        <p14:creationId xmlns:p14="http://schemas.microsoft.com/office/powerpoint/2010/main" val="1947621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3F8E8-2E98-47AD-EA90-7034E59DE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90933"/>
            <a:ext cx="10972800" cy="457200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sz="3000" b="1" dirty="0"/>
              <a:t>Strengths &amp; Limitations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CE21A-3F83-3DDC-7BD2-BF9D4DD5C6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225850"/>
            <a:ext cx="5305064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GB" sz="2000" b="1" dirty="0"/>
              <a:t>Per Phases (1-4)</a:t>
            </a:r>
            <a:r>
              <a:rPr lang="el-GR" sz="2000" b="1" dirty="0"/>
              <a:t> ~ </a:t>
            </a:r>
            <a:r>
              <a:rPr lang="en-US" sz="2000" b="1"/>
              <a:t>Feature</a:t>
            </a:r>
            <a:endParaRPr lang="en-GB" sz="2000" b="1" dirty="0"/>
          </a:p>
          <a:p>
            <a:r>
              <a:rPr lang="en-GB" sz="2000" b="1" dirty="0"/>
              <a:t>More features</a:t>
            </a:r>
            <a:br>
              <a:rPr lang="en-GB" sz="2000" b="1" dirty="0"/>
            </a:br>
            <a:r>
              <a:rPr lang="en-GB" sz="2000" dirty="0"/>
              <a:t>Interactions, New, scales etc.</a:t>
            </a:r>
          </a:p>
          <a:p>
            <a:r>
              <a:rPr lang="en-GB" sz="2000" b="1" dirty="0"/>
              <a:t>More models </a:t>
            </a:r>
            <a:br>
              <a:rPr lang="en-GB" sz="2000" b="1" dirty="0"/>
            </a:br>
            <a:r>
              <a:rPr lang="en-GB" sz="2000" dirty="0">
                <a:sym typeface="Wingdings" panose="05000000000000000000" pitchFamily="2" charset="2"/>
              </a:rPr>
              <a:t>LightBoost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Clinical practice impact 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Imbalance sensitive metrics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MCC, BA, F1, PR Curves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Interpretability of ML </a:t>
            </a:r>
            <a:br>
              <a:rPr lang="en-GB" sz="2000" b="1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SHAP plots, Logistic</a:t>
            </a:r>
          </a:p>
          <a:p>
            <a:r>
              <a:rPr lang="en-GB" sz="2000" b="1" dirty="0">
                <a:sym typeface="Wingdings" panose="05000000000000000000" pitchFamily="2" charset="2"/>
              </a:rPr>
              <a:t>Sample Size</a:t>
            </a:r>
          </a:p>
          <a:p>
            <a:pPr marL="233363" lvl="1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Efficiently large: 2011-2024 , EPV</a:t>
            </a:r>
            <a:endParaRPr lang="en-GB" sz="2000" b="1" dirty="0">
              <a:sym typeface="Wingdings" panose="05000000000000000000" pitchFamily="2" charset="2"/>
            </a:endParaRPr>
          </a:p>
          <a:p>
            <a:r>
              <a:rPr lang="en-GB" sz="2000" b="1" dirty="0">
                <a:sym typeface="Wingdings" panose="05000000000000000000" pitchFamily="2" charset="2"/>
              </a:rPr>
              <a:t>Avoid Missing data drop</a:t>
            </a:r>
            <a:r>
              <a:rPr lang="en-GB" sz="2000" dirty="0">
                <a:sym typeface="Wingdings" panose="05000000000000000000" pitchFamily="2" charset="2"/>
              </a:rPr>
              <a:t> </a:t>
            </a:r>
            <a:br>
              <a:rPr lang="en-GB" sz="2000" dirty="0">
                <a:sym typeface="Wingdings" panose="05000000000000000000" pitchFamily="2" charset="2"/>
              </a:rPr>
            </a:br>
            <a:r>
              <a:rPr lang="en-GB" sz="2000" dirty="0">
                <a:sym typeface="Wingdings" panose="05000000000000000000" pitchFamily="2" charset="2"/>
              </a:rPr>
              <a:t>No</a:t>
            </a:r>
            <a:r>
              <a:rPr lang="en-GB" sz="2000" b="1" dirty="0">
                <a:sym typeface="Wingdings" panose="05000000000000000000" pitchFamily="2" charset="2"/>
              </a:rPr>
              <a:t> </a:t>
            </a:r>
            <a:r>
              <a:rPr lang="en-GB" sz="2000" dirty="0">
                <a:sym typeface="Wingdings" panose="05000000000000000000" pitchFamily="2" charset="2"/>
              </a:rPr>
              <a:t>Information loss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1DE421-F807-3BEB-AAE2-D3F1FCDFE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7334" y="1225850"/>
            <a:ext cx="5305065" cy="5475892"/>
          </a:xfrm>
          <a:ln>
            <a:solidFill>
              <a:schemeClr val="tx1"/>
            </a:solidFill>
          </a:ln>
        </p:spPr>
        <p:txBody>
          <a:bodyPr anchor="ctr">
            <a:noAutofit/>
          </a:bodyPr>
          <a:lstStyle/>
          <a:p>
            <a:r>
              <a:rPr lang="en-US" sz="2000" b="1" dirty="0"/>
              <a:t>Missing data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RegEx  </a:t>
            </a: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000" b="1" dirty="0"/>
              <a:t>Random Under Sample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Information loss</a:t>
            </a:r>
          </a:p>
          <a:p>
            <a:r>
              <a:rPr lang="en-US" sz="2000" b="1" dirty="0"/>
              <a:t>EPV &gt;25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/>
              <a:t>Inefficient for ML</a:t>
            </a:r>
          </a:p>
          <a:p>
            <a:r>
              <a:rPr lang="en-US" sz="2000" b="1" dirty="0"/>
              <a:t>No alternative classic statistics models</a:t>
            </a:r>
          </a:p>
          <a:p>
            <a:r>
              <a:rPr lang="en-US" sz="2000" b="1" dirty="0"/>
              <a:t>No field specific </a:t>
            </a:r>
            <a:r>
              <a:rPr lang="en-US" sz="2000" b="1" dirty="0">
                <a:sym typeface="Wingdings" panose="05000000000000000000" pitchFamily="2" charset="2"/>
              </a:rPr>
              <a:t>: </a:t>
            </a:r>
            <a:r>
              <a:rPr lang="en-US" sz="2000" dirty="0">
                <a:sym typeface="Wingdings" panose="05000000000000000000" pitchFamily="2" charset="2"/>
              </a:rPr>
              <a:t>High dimension</a:t>
            </a:r>
            <a:endParaRPr lang="en-US" sz="2000" dirty="0"/>
          </a:p>
          <a:p>
            <a:r>
              <a:rPr lang="en-US" sz="2000" b="1" dirty="0"/>
              <a:t>Phases excluded: </a:t>
            </a:r>
            <a:r>
              <a:rPr lang="en-US" sz="2000" dirty="0"/>
              <a:t>0, 1|2, 2|3, NA </a:t>
            </a:r>
          </a:p>
          <a:p>
            <a:r>
              <a:rPr lang="en-US" sz="2000" b="1" dirty="0"/>
              <a:t>Study status excluded: </a:t>
            </a:r>
            <a:r>
              <a:rPr lang="en-US" sz="2000" dirty="0"/>
              <a:t>Suspended etc.</a:t>
            </a:r>
          </a:p>
          <a:p>
            <a:r>
              <a:rPr lang="en-US" sz="2000" b="1" dirty="0"/>
              <a:t>Inaccurate dataset registries  </a:t>
            </a:r>
            <a:br>
              <a:rPr lang="en-US" sz="2000" b="1" dirty="0"/>
            </a:br>
            <a:r>
              <a:rPr lang="en-US" sz="2000" dirty="0"/>
              <a:t>Wrongly, optimal, Null, Sparse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458E01-EEDC-C559-906A-803FD00F9A27}"/>
              </a:ext>
            </a:extLst>
          </p:cNvPr>
          <p:cNvSpPr txBox="1"/>
          <p:nvPr/>
        </p:nvSpPr>
        <p:spPr>
          <a:xfrm>
            <a:off x="609599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Strengths</a:t>
            </a:r>
            <a:endParaRPr lang="en-GB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2D915-7AF7-0AF9-12A6-E25870A2516B}"/>
              </a:ext>
            </a:extLst>
          </p:cNvPr>
          <p:cNvSpPr txBox="1"/>
          <p:nvPr/>
        </p:nvSpPr>
        <p:spPr>
          <a:xfrm>
            <a:off x="6096000" y="856518"/>
            <a:ext cx="541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Limitations</a:t>
            </a:r>
          </a:p>
        </p:txBody>
      </p:sp>
    </p:spTree>
    <p:extLst>
      <p:ext uri="{BB962C8B-B14F-4D97-AF65-F5344CB8AC3E}">
        <p14:creationId xmlns:p14="http://schemas.microsoft.com/office/powerpoint/2010/main" val="2946716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FB1F2-9B2C-952D-6552-CDCF58BA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58800"/>
            <a:ext cx="10972800" cy="457200"/>
          </a:xfrm>
          <a:ln>
            <a:solidFill>
              <a:schemeClr val="tx1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3000" b="1" dirty="0"/>
              <a:t>Future Research</a:t>
            </a:r>
            <a:endParaRPr lang="en-GB" sz="3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BD6F-33DE-5ED7-7A3C-3B8D40A5DE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8" y="995424"/>
            <a:ext cx="10972799" cy="4502552"/>
          </a:xfrm>
          <a:ln>
            <a:noFill/>
          </a:ln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sz="2000" b="1" dirty="0"/>
              <a:t>Underlying factors </a:t>
            </a:r>
            <a:r>
              <a:rPr lang="en-US" sz="2000" b="1" dirty="0">
                <a:sym typeface="Wingdings" panose="05000000000000000000" pitchFamily="2" charset="2"/>
              </a:rPr>
              <a:t> E</a:t>
            </a:r>
            <a:r>
              <a:rPr lang="en-US" sz="2000" b="1" dirty="0"/>
              <a:t>arly termination</a:t>
            </a:r>
          </a:p>
          <a:p>
            <a:pPr lvl="1"/>
            <a:r>
              <a:rPr lang="en-US" sz="2000" dirty="0"/>
              <a:t>Interactions (Enrollment x Other Features, Funder x Intervention etc.) </a:t>
            </a:r>
          </a:p>
          <a:p>
            <a:pPr lvl="1"/>
            <a:r>
              <a:rPr lang="en-US" sz="2000" dirty="0"/>
              <a:t>Enrollment, Conditions</a:t>
            </a:r>
          </a:p>
          <a:p>
            <a:pPr lvl="1"/>
            <a:r>
              <a:rPr lang="en-US" sz="2000" dirty="0"/>
              <a:t>Phase ~ Features </a:t>
            </a:r>
          </a:p>
          <a:p>
            <a:pPr lvl="1"/>
            <a:r>
              <a:rPr lang="en-US" sz="2000" dirty="0"/>
              <a:t>Study Status: Withdrawn, Terminated, Suspended etc. </a:t>
            </a:r>
            <a:r>
              <a:rPr lang="en-US" sz="2000" dirty="0">
                <a:sym typeface="Wingdings" panose="05000000000000000000" pitchFamily="2" charset="2"/>
              </a:rPr>
              <a:t> S</a:t>
            </a:r>
            <a:r>
              <a:rPr lang="en-US" sz="2000" dirty="0"/>
              <a:t>eparately | Combined</a:t>
            </a:r>
          </a:p>
          <a:p>
            <a:pPr lvl="1"/>
            <a:r>
              <a:rPr lang="en-US" sz="2000" dirty="0"/>
              <a:t>Phases: 1|2, 2|3</a:t>
            </a:r>
          </a:p>
          <a:p>
            <a:pPr marL="0" indent="0">
              <a:buNone/>
            </a:pPr>
            <a:r>
              <a:rPr lang="en-US" sz="2000" b="1" dirty="0"/>
              <a:t>Alternative Models of best performing Boosting method’s</a:t>
            </a:r>
          </a:p>
          <a:p>
            <a:pPr lvl="1"/>
            <a:r>
              <a:rPr lang="en-US" sz="2000" dirty="0"/>
              <a:t>Interpretability</a:t>
            </a:r>
            <a:r>
              <a:rPr lang="en-US" sz="2000" b="1" dirty="0"/>
              <a:t> </a:t>
            </a:r>
          </a:p>
          <a:p>
            <a:pPr marL="0" indent="0">
              <a:buNone/>
            </a:pPr>
            <a:r>
              <a:rPr lang="en-US" sz="2000" b="1" dirty="0"/>
              <a:t>Later years trials registrations</a:t>
            </a:r>
            <a:r>
              <a:rPr lang="en-US" sz="2000" dirty="0"/>
              <a:t> : Less optional field completion </a:t>
            </a:r>
            <a:r>
              <a:rPr lang="en-US" sz="2000" dirty="0">
                <a:sym typeface="Wingdings" panose="05000000000000000000" pitchFamily="2" charset="2"/>
              </a:rPr>
              <a:t> Accuracy</a:t>
            </a: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Mapping Key findings</a:t>
            </a:r>
          </a:p>
          <a:p>
            <a:pPr lvl="1"/>
            <a:r>
              <a:rPr lang="en-US" sz="2000" dirty="0"/>
              <a:t>Literature alignment, Registries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D7F9C-8C80-0702-9D66-F91BA0E31612}"/>
              </a:ext>
            </a:extLst>
          </p:cNvPr>
          <p:cNvSpPr txBox="1"/>
          <p:nvPr/>
        </p:nvSpPr>
        <p:spPr>
          <a:xfrm>
            <a:off x="609598" y="5797889"/>
            <a:ext cx="1097279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Establish well performed models/methods for real world health data</a:t>
            </a:r>
          </a:p>
          <a:p>
            <a:pPr algn="ctr"/>
            <a:r>
              <a:rPr lang="en-US" sz="2000" dirty="0"/>
              <a:t>and analysis of corresponding problems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1725771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A49731-B402-B077-FC6B-D2B661F79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85800"/>
            <a:ext cx="10972800" cy="5486400"/>
          </a:xfrm>
          <a:prstGeom prst="plaque">
            <a:avLst/>
          </a:prstGeom>
          <a:ln w="1905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 algn="ctr"/>
            <a:r>
              <a:rPr lang="en-US" sz="5000" b="1" dirty="0"/>
              <a:t>The End</a:t>
            </a:r>
            <a:r>
              <a:rPr lang="el-GR" sz="5000" b="1" dirty="0"/>
              <a:t>…</a:t>
            </a:r>
            <a:endParaRPr lang="en-GB" sz="5000" b="1" dirty="0"/>
          </a:p>
        </p:txBody>
      </p:sp>
      <p:pic>
        <p:nvPicPr>
          <p:cNvPr id="11" name="Graphic 10" descr="Video camera outline">
            <a:extLst>
              <a:ext uri="{FF2B5EF4-FFF2-40B4-BE49-F238E27FC236}">
                <a16:creationId xmlns:a16="http://schemas.microsoft.com/office/drawing/2014/main" id="{91CD17B4-6875-F425-0782-42205BDD1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9705" y="4472650"/>
            <a:ext cx="1537505" cy="1537505"/>
          </a:xfrm>
          <a:prstGeom prst="rect">
            <a:avLst/>
          </a:prstGeom>
        </p:spPr>
      </p:pic>
      <p:pic>
        <p:nvPicPr>
          <p:cNvPr id="13" name="Graphic 12" descr="Clapper board outline">
            <a:extLst>
              <a:ext uri="{FF2B5EF4-FFF2-40B4-BE49-F238E27FC236}">
                <a16:creationId xmlns:a16="http://schemas.microsoft.com/office/drawing/2014/main" id="{14234742-40E1-70A1-3E10-B0701DAED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19550" y="838201"/>
            <a:ext cx="1074516" cy="1074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8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51600</TotalTime>
  <Words>1616</Words>
  <Application>Microsoft Office PowerPoint</Application>
  <PresentationFormat>Widescreen</PresentationFormat>
  <Paragraphs>287</Paragraphs>
  <Slides>31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Courier New</vt:lpstr>
      <vt:lpstr>Wingdings</vt:lpstr>
      <vt:lpstr>Office Theme</vt:lpstr>
      <vt:lpstr>Εθνικό Και Καποδιστριακό Πανεπιστήμιο Αθηνών Μεταπτυχιακό Πρόγραμμα Σπουδών:  «Βιο-στατιστική και Επιστήμη Δεδομένων Υγείας»</vt:lpstr>
      <vt:lpstr>Title</vt:lpstr>
      <vt:lpstr>Introduction</vt:lpstr>
      <vt:lpstr>Problem</vt:lpstr>
      <vt:lpstr>Data Source ClinicalTrials.gov</vt:lpstr>
      <vt:lpstr>Electronic Health Records – EHR</vt:lpstr>
      <vt:lpstr>Data Format</vt:lpstr>
      <vt:lpstr>PowerPoint Presentation</vt:lpstr>
      <vt:lpstr>PowerPoint Presentation</vt:lpstr>
      <vt:lpstr>PowerPoint Presentation</vt:lpstr>
      <vt:lpstr>PowerPoint Presentation</vt:lpstr>
      <vt:lpstr>Sparsity Risk</vt:lpstr>
      <vt:lpstr>Correlation</vt:lpstr>
      <vt:lpstr>Results</vt:lpstr>
      <vt:lpstr>Models</vt:lpstr>
      <vt:lpstr>Models’ Evaluation Metrics </vt:lpstr>
      <vt:lpstr>Model per Phase</vt:lpstr>
      <vt:lpstr>Metrics</vt:lpstr>
      <vt:lpstr>Models’ Performance</vt:lpstr>
      <vt:lpstr>Predictors</vt:lpstr>
      <vt:lpstr>Features ~ Termination ~ Phases</vt:lpstr>
      <vt:lpstr>Features’ Evaluation Metrics </vt:lpstr>
      <vt:lpstr>Features ~ Termination ~ Phases</vt:lpstr>
      <vt:lpstr>PowerPoint Presentation</vt:lpstr>
      <vt:lpstr>Features Evaluation Summary</vt:lpstr>
      <vt:lpstr>Withdrawn Analysis</vt:lpstr>
      <vt:lpstr>Termination &amp; Withdrawn Descriptives</vt:lpstr>
      <vt:lpstr>Discussion</vt:lpstr>
      <vt:lpstr>Strengths &amp; Limitations</vt:lpstr>
      <vt:lpstr>Future Research</vt:lpstr>
      <vt:lpstr>The End…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Evgenia Andreou</dc:creator>
  <cp:lastModifiedBy>Evgenia Andreou</cp:lastModifiedBy>
  <cp:revision>1</cp:revision>
  <dcterms:created xsi:type="dcterms:W3CDTF">2025-10-07T14:54:16Z</dcterms:created>
  <dcterms:modified xsi:type="dcterms:W3CDTF">2026-02-18T15:19:21Z</dcterms:modified>
</cp:coreProperties>
</file>