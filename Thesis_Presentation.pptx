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32" dt="2025-10-07T15:55:49.5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22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custSel addSld delSld modSld sldOrd">
      <pc:chgData name="Evgenia Andreou" userId="8e89e74f621e7047" providerId="LiveId" clId="{EF53017E-E624-4052-9F70-6403551E244D}" dt="2025-10-07T15:56:41.860" v="2559" actId="20577"/>
      <pc:docMkLst>
        <pc:docMk/>
      </pc:docMkLst>
      <pc:sldChg chg="new del">
        <pc:chgData name="Evgenia Andreou" userId="8e89e74f621e7047" providerId="LiveId" clId="{EF53017E-E624-4052-9F70-6403551E244D}" dt="2025-10-07T14:54:43.423" v="2" actId="47"/>
        <pc:sldMkLst>
          <pc:docMk/>
          <pc:sldMk cId="3388431540" sldId="256"/>
        </pc:sldMkLst>
      </pc:sldChg>
      <pc:sldChg chg="addSp modSp new mod">
        <pc:chgData name="Evgenia Andreou" userId="8e89e74f621e7047" providerId="LiveId" clId="{EF53017E-E624-4052-9F70-6403551E244D}" dt="2025-10-07T15:06:50.690" v="396" actId="115"/>
        <pc:sldMkLst>
          <pc:docMk/>
          <pc:sldMk cId="568867521" sldId="257"/>
        </pc:sldMkLst>
        <pc:spChg chg="mod">
          <ac:chgData name="Evgenia Andreou" userId="8e89e74f621e7047" providerId="LiveId" clId="{EF53017E-E624-4052-9F70-6403551E244D}" dt="2025-10-07T15:06:50.690" v="396" actId="115"/>
          <ac:spMkLst>
            <pc:docMk/>
            <pc:sldMk cId="568867521" sldId="257"/>
            <ac:spMk id="2" creationId="{36AEA065-0091-4D6E-0832-189823EA0505}"/>
          </ac:spMkLst>
        </pc:spChg>
        <pc:spChg chg="add mod">
          <ac:chgData name="Evgenia Andreou" userId="8e89e74f621e7047" providerId="LiveId" clId="{EF53017E-E624-4052-9F70-6403551E244D}" dt="2025-10-07T15:02:50.650" v="315" actId="1076"/>
          <ac:spMkLst>
            <pc:docMk/>
            <pc:sldMk cId="568867521" sldId="257"/>
            <ac:spMk id="3" creationId="{09FB8F2E-C1EA-0356-22BA-7189EA91775F}"/>
          </ac:spMkLst>
        </pc:spChg>
        <pc:spChg chg="add mod">
          <ac:chgData name="Evgenia Andreou" userId="8e89e74f621e7047" providerId="LiveId" clId="{EF53017E-E624-4052-9F70-6403551E244D}" dt="2025-10-07T15:06:42.238" v="392" actId="115"/>
          <ac:spMkLst>
            <pc:docMk/>
            <pc:sldMk cId="568867521" sldId="257"/>
            <ac:spMk id="4" creationId="{DA253F5B-969C-ED7C-E6DD-0409268E6EFB}"/>
          </ac:spMkLst>
        </pc:spChg>
        <pc:picChg chg="add mod">
          <ac:chgData name="Evgenia Andreou" userId="8e89e74f621e7047" providerId="LiveId" clId="{EF53017E-E624-4052-9F70-6403551E244D}" dt="2025-10-07T15:03:03.567" v="319" actId="1076"/>
          <ac:picMkLst>
            <pc:docMk/>
            <pc:sldMk cId="568867521" sldId="257"/>
            <ac:picMk id="5" creationId="{640D1803-8150-CAD8-031A-2FBAFFCD8E65}"/>
          </ac:picMkLst>
        </pc:picChg>
      </pc:sldChg>
      <pc:sldChg chg="addSp modSp new mod ord">
        <pc:chgData name="Evgenia Andreou" userId="8e89e74f621e7047" providerId="LiveId" clId="{EF53017E-E624-4052-9F70-6403551E244D}" dt="2025-10-07T15:05:08.499" v="347" actId="1076"/>
        <pc:sldMkLst>
          <pc:docMk/>
          <pc:sldMk cId="1223022622" sldId="258"/>
        </pc:sldMkLst>
        <pc:spChg chg="mod">
          <ac:chgData name="Evgenia Andreou" userId="8e89e74f621e7047" providerId="LiveId" clId="{EF53017E-E624-4052-9F70-6403551E244D}" dt="2025-10-07T15:04:59.174" v="343" actId="1076"/>
          <ac:spMkLst>
            <pc:docMk/>
            <pc:sldMk cId="1223022622" sldId="258"/>
            <ac:spMk id="2" creationId="{68F7CEDF-EFB3-C401-7155-FB36C7BDA927}"/>
          </ac:spMkLst>
        </pc:spChg>
        <pc:picChg chg="add mod">
          <ac:chgData name="Evgenia Andreou" userId="8e89e74f621e7047" providerId="LiveId" clId="{EF53017E-E624-4052-9F70-6403551E244D}" dt="2025-10-07T15:05:08.499" v="347" actId="1076"/>
          <ac:picMkLst>
            <pc:docMk/>
            <pc:sldMk cId="1223022622" sldId="258"/>
            <ac:picMk id="3" creationId="{57CAA8E1-B682-7871-AB00-72A2D1931990}"/>
          </ac:picMkLst>
        </pc:picChg>
      </pc:sldChg>
      <pc:sldChg chg="addSp delSp modSp new mod">
        <pc:chgData name="Evgenia Andreou" userId="8e89e74f621e7047" providerId="LiveId" clId="{EF53017E-E624-4052-9F70-6403551E244D}" dt="2025-10-07T15:29:45.768" v="989" actId="1076"/>
        <pc:sldMkLst>
          <pc:docMk/>
          <pc:sldMk cId="660911001" sldId="259"/>
        </pc:sldMkLst>
        <pc:spChg chg="mod">
          <ac:chgData name="Evgenia Andreou" userId="8e89e74f621e7047" providerId="LiveId" clId="{EF53017E-E624-4052-9F70-6403551E244D}" dt="2025-10-07T15:27:15.916" v="873" actId="21"/>
          <ac:spMkLst>
            <pc:docMk/>
            <pc:sldMk cId="660911001" sldId="259"/>
            <ac:spMk id="2" creationId="{471CA315-35A7-17EB-102A-46BFCE7F30F3}"/>
          </ac:spMkLst>
        </pc:spChg>
        <pc:spChg chg="add del mod">
          <ac:chgData name="Evgenia Andreou" userId="8e89e74f621e7047" providerId="LiveId" clId="{EF53017E-E624-4052-9F70-6403551E244D}" dt="2025-10-07T15:29:25.710" v="984" actId="478"/>
          <ac:spMkLst>
            <pc:docMk/>
            <pc:sldMk cId="660911001" sldId="259"/>
            <ac:spMk id="3" creationId="{421E97AA-22B3-338B-E663-CA4DAB66932B}"/>
          </ac:spMkLst>
        </pc:spChg>
        <pc:spChg chg="add mod">
          <ac:chgData name="Evgenia Andreou" userId="8e89e74f621e7047" providerId="LiveId" clId="{EF53017E-E624-4052-9F70-6403551E244D}" dt="2025-10-07T15:29:45.768" v="989" actId="1076"/>
          <ac:spMkLst>
            <pc:docMk/>
            <pc:sldMk cId="660911001" sldId="259"/>
            <ac:spMk id="4" creationId="{2222F026-5A5E-1709-C1FE-1CF7F1927D19}"/>
          </ac:spMkLst>
        </pc:spChg>
      </pc:sldChg>
      <pc:sldChg chg="addSp delSp modSp new mod">
        <pc:chgData name="Evgenia Andreou" userId="8e89e74f621e7047" providerId="LiveId" clId="{EF53017E-E624-4052-9F70-6403551E244D}" dt="2025-10-07T15:48:59.667" v="2389" actId="20577"/>
        <pc:sldMkLst>
          <pc:docMk/>
          <pc:sldMk cId="3253723412" sldId="260"/>
        </pc:sldMkLst>
        <pc:spChg chg="del mod">
          <ac:chgData name="Evgenia Andreou" userId="8e89e74f621e7047" providerId="LiveId" clId="{EF53017E-E624-4052-9F70-6403551E244D}" dt="2025-10-07T15:47:25.521" v="2328" actId="478"/>
          <ac:spMkLst>
            <pc:docMk/>
            <pc:sldMk cId="3253723412" sldId="260"/>
            <ac:spMk id="2" creationId="{EFF3E888-1E00-B902-CF12-0B0B2677B2FD}"/>
          </ac:spMkLst>
        </pc:spChg>
        <pc:spChg chg="add mod">
          <ac:chgData name="Evgenia Andreou" userId="8e89e74f621e7047" providerId="LiveId" clId="{EF53017E-E624-4052-9F70-6403551E244D}" dt="2025-10-07T15:48:41.220" v="2355" actId="27636"/>
          <ac:spMkLst>
            <pc:docMk/>
            <pc:sldMk cId="3253723412" sldId="260"/>
            <ac:spMk id="3" creationId="{364C2508-D28E-6C2B-E788-4415DE3EF595}"/>
          </ac:spMkLst>
        </pc:spChg>
        <pc:spChg chg="add mod">
          <ac:chgData name="Evgenia Andreou" userId="8e89e74f621e7047" providerId="LiveId" clId="{EF53017E-E624-4052-9F70-6403551E244D}" dt="2025-10-07T15:48:59.667" v="2389" actId="20577"/>
          <ac:spMkLst>
            <pc:docMk/>
            <pc:sldMk cId="3253723412" sldId="260"/>
            <ac:spMk id="4" creationId="{8E7D1FB3-01A9-C464-C45A-EB8E9A04BC4D}"/>
          </ac:spMkLst>
        </pc:spChg>
        <pc:spChg chg="add del mod">
          <ac:chgData name="Evgenia Andreou" userId="8e89e74f621e7047" providerId="LiveId" clId="{EF53017E-E624-4052-9F70-6403551E244D}" dt="2025-10-07T15:47:27.758" v="2329" actId="478"/>
          <ac:spMkLst>
            <pc:docMk/>
            <pc:sldMk cId="3253723412" sldId="260"/>
            <ac:spMk id="6" creationId="{B9641B49-D0EF-B3D0-5BA8-DB4E7B1A75ED}"/>
          </ac:spMkLst>
        </pc:spChg>
      </pc:sldChg>
      <pc:sldChg chg="addSp modSp new mod">
        <pc:chgData name="Evgenia Andreou" userId="8e89e74f621e7047" providerId="LiveId" clId="{EF53017E-E624-4052-9F70-6403551E244D}" dt="2025-10-07T15:56:41.860" v="2559" actId="20577"/>
        <pc:sldMkLst>
          <pc:docMk/>
          <pc:sldMk cId="3999903796" sldId="261"/>
        </pc:sldMkLst>
        <pc:spChg chg="mod">
          <ac:chgData name="Evgenia Andreou" userId="8e89e74f621e7047" providerId="LiveId" clId="{EF53017E-E624-4052-9F70-6403551E244D}" dt="2025-10-07T15:53:27.179" v="2401" actId="113"/>
          <ac:spMkLst>
            <pc:docMk/>
            <pc:sldMk cId="3999903796" sldId="261"/>
            <ac:spMk id="2" creationId="{16177421-B3EA-CEAE-E8FA-083B0D801D7E}"/>
          </ac:spMkLst>
        </pc:spChg>
        <pc:spChg chg="add mod">
          <ac:chgData name="Evgenia Andreou" userId="8e89e74f621e7047" providerId="LiveId" clId="{EF53017E-E624-4052-9F70-6403551E244D}" dt="2025-10-07T15:56:41.860" v="2559" actId="20577"/>
          <ac:spMkLst>
            <pc:docMk/>
            <pc:sldMk cId="3999903796" sldId="261"/>
            <ac:spMk id="3" creationId="{CC10AA64-350B-915D-D6B0-A9099D5DABE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00519-181B-4D48-CFAA-4BF32E3F49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A502EA-64EC-D360-0610-362050828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CA281-382E-F5DF-AF33-671D1465C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6D49C-7863-ECB7-66AB-F2C6F5A1E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A915F-F8E6-F5F5-C2B7-8CF0B7682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2002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78674-5BEC-B362-05D9-79AA39062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E1EE9-79F4-81EB-C1B2-B7AB63619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4F67A3-CFBD-1C5B-E572-075DAED16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4FF95-8C03-DAFB-819B-DCB5B22AC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914C64-38B4-4B64-36F8-4C267D3CF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7925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9600D-650D-3C59-E8B4-7624B7B87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331C4-8456-972D-301A-EC96615BE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C195A-8917-FA5F-87DE-A401AA90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6462C-3E36-C6BB-46FC-A73842FAA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0347-E08F-6FFA-5B4A-8C7D444D1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5390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780D8-543D-8CA7-788C-5F09CB2ED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071D7-6982-4C38-BE69-A241996B58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CDAE49-A7A1-43D3-7BB7-BD9D2490B5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BE02DA-A153-87F1-6131-8D8030AD5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E14FD5-E581-E099-71B3-EEB0B123C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3A571-71E6-1EF5-3E56-F453F5C64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636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D026-1B30-5C90-4610-43A9A4051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7B88B6-3140-D910-D7FC-2AB8EC8D78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25B418-34B9-A8D5-98DD-50D27F03AD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7E0024-2165-508A-A563-0389291EFA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844665-56F3-1502-1D10-C75A621365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E300D5-FC80-C4F2-3D0D-0E2C14B73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633611-AA52-E3E6-C2F0-44EF69BEF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6C5BCA-BF65-5490-62C9-385DADDD6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6930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60E9-C020-936A-63E1-ED14B7D32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3B1E33-7F5B-58F1-6BAE-0B55A861D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796C19-ABA1-F473-C5AE-48E4E087E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D9403C-99C9-9D42-ED2A-595921ADE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1887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FF1E21-B8D4-DFB3-1681-F85C95473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0D00FB-33B0-248F-FA77-28C26B7C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65EFC8-703A-7544-3921-D2632A9CC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215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8BDC9-1F52-64FD-7655-330BBFC32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F9AFD-8A61-66B2-D692-3A52A87EB1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7042EC-1728-5FE9-40B6-DC15A70A33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72FEA-FCE1-93B6-0381-F2A099AA2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41201-7BC5-DF53-2212-8137D8542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2C5C6-43E9-9E90-02ED-9E3E63BD7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2704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866EA-E27B-D731-0A34-1A0E63ADE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C49F4-5F50-5050-EBDB-9FCD3A1067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EA5602-6BAA-5B87-0281-35981DB996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D040F6-AAE5-D356-B5C5-9D02A3EA5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ED195-8296-CF7A-7FEE-9BE8D7EAE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351269-E3E0-5F45-38A8-8120A276B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026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83809-AA0C-F994-1F94-3DB35E9DD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F2C8DE-7DDD-0B26-E2C5-A44CF5DA3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2CEF6-55FD-A754-799D-298573CFD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ABAE0-5A5C-CAFE-F352-87BFC53D1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380CB-D2BC-99CB-E29D-8D2A5AF14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7656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86922-A521-28FE-2F33-71BA0A5239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4AC04C-EED9-C611-C753-412CFCD898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010A4-67C4-E40B-A639-A7B9EF1C1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66596-2070-1C99-982B-71504C03B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5411-9BC2-E419-6FC1-469B6FC2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116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AB0F1-AA22-FD1A-E456-864D0EC5D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F3585D-ED24-61F0-DB1C-5F8276C6EF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66549-386D-C1C3-D87E-86014087FF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07/10/2025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B84E7-D5D0-B8F4-78DE-A12D592785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94F04E-DE7F-3AA3-A1EA-0F39FF2C0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548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</p:spPr>
        <p:txBody>
          <a:bodyPr>
            <a:normAutofit fontScale="90000"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br>
              <a:rPr lang="en-GB" dirty="0"/>
            </a:br>
            <a:endParaRPr lang="en-GB" dirty="0"/>
          </a:p>
        </p:txBody>
      </p:sp>
      <p:pic>
        <p:nvPicPr>
          <p:cNvPr id="3" name="Picture 2" descr="A close up of a sign&#10;&#10;AI-generated content may be incorrect.">
            <a:extLst>
              <a:ext uri="{FF2B5EF4-FFF2-40B4-BE49-F238E27FC236}">
                <a16:creationId xmlns:a16="http://schemas.microsoft.com/office/drawing/2014/main" id="{57CAA8E1-B682-7871-AB00-72A2D1931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469" y="1090914"/>
            <a:ext cx="5661061" cy="1721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EA065-0091-4D6E-0832-189823EA0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84453"/>
            <a:ext cx="10515600" cy="1944547"/>
          </a:xfrm>
        </p:spPr>
        <p:txBody>
          <a:bodyPr>
            <a:normAutofit/>
          </a:bodyPr>
          <a:lstStyle/>
          <a:p>
            <a:pPr algn="ctr"/>
            <a:r>
              <a:rPr lang="el-GR" sz="2500" u="sng" dirty="0"/>
              <a:t>Τίτλος Διπλωματικής Εργασίας</a:t>
            </a:r>
            <a:r>
              <a:rPr lang="en-US" sz="2500" u="sng" dirty="0"/>
              <a:t>:</a:t>
            </a:r>
            <a:r>
              <a:rPr lang="en-US" sz="2500" b="1" dirty="0"/>
              <a:t> </a:t>
            </a:r>
            <a:br>
              <a:rPr lang="en-US" sz="2500" b="1" dirty="0"/>
            </a:br>
            <a:r>
              <a:rPr lang="el-GR" sz="2500" b="1" dirty="0"/>
              <a:t>Πρόβλεψη πρόωρου τερματισμού κλινικών δοκιμών με μοντέλα μηχανικής μάθησης </a:t>
            </a:r>
            <a:r>
              <a:rPr lang="en-GB" sz="2500" b="1" dirty="0"/>
              <a:t>vs</a:t>
            </a:r>
            <a:r>
              <a:rPr lang="el-GR" sz="2500" b="1" dirty="0"/>
              <a:t> κλασσικής παλινδρόμησης,</a:t>
            </a:r>
            <a:br>
              <a:rPr lang="el-GR" sz="2500" b="1" dirty="0"/>
            </a:br>
            <a:r>
              <a:rPr lang="el-GR" sz="2500" b="1" dirty="0"/>
              <a:t>βάση ανάλυσης των χαρακτηριστικών σχεδιασμού τους</a:t>
            </a:r>
            <a:endParaRPr lang="en-GB" sz="2500" b="1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14372"/>
            <a:ext cx="10515600" cy="1002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2000" dirty="0"/>
              <a:t>Φοιτητής/τρια: Ανδρέου Ευγενία</a:t>
            </a:r>
          </a:p>
          <a:p>
            <a:pPr algn="ctr"/>
            <a:r>
              <a:rPr lang="el-GR" sz="2000" dirty="0"/>
              <a:t>Επιβλέπων Καθηγητής: Δεναξάς Σπυρίδων</a:t>
            </a:r>
            <a:endParaRPr lang="en-GB" sz="2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838200" y="3569825"/>
            <a:ext cx="10515600" cy="194454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500" u="sng" dirty="0"/>
              <a:t>Diploma Thesis</a:t>
            </a:r>
            <a:r>
              <a:rPr lang="el-GR" sz="2500" u="sng" dirty="0"/>
              <a:t> </a:t>
            </a:r>
            <a:r>
              <a:rPr lang="en-US" sz="2500" u="sng" dirty="0"/>
              <a:t>Title:</a:t>
            </a:r>
          </a:p>
          <a:p>
            <a:pPr algn="ctr"/>
            <a:r>
              <a:rPr lang="en-GB" sz="2500" b="1" dirty="0"/>
              <a:t>Predicting early termination of clinical trials with machine learning vs. classical regression models, based on analysis of their design characteristics</a:t>
            </a:r>
          </a:p>
        </p:txBody>
      </p:sp>
      <p:pic>
        <p:nvPicPr>
          <p:cNvPr id="5" name="Picture 4" descr="A close up of a sign&#10;&#10;AI-generated content may be incorrect.">
            <a:extLst>
              <a:ext uri="{FF2B5EF4-FFF2-40B4-BE49-F238E27FC236}">
                <a16:creationId xmlns:a16="http://schemas.microsoft.com/office/drawing/2014/main" id="{640D1803-8150-CAD8-031A-2FBAFFCD8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61541"/>
            <a:ext cx="313182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CA315-35A7-17EB-102A-46BFCE7F3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378075"/>
          </a:xfrm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Clinical Trials (CT)</a:t>
            </a:r>
            <a:br>
              <a:rPr lang="el-GR" sz="2500" b="1" dirty="0"/>
            </a:br>
            <a:br>
              <a:rPr lang="en-US" sz="2500" dirty="0"/>
            </a:br>
            <a:r>
              <a:rPr lang="el-GR" sz="2500" dirty="0"/>
              <a:t>Οι κλινικές δοκιμές αποτελούν μελέτες σε ανθρώπους, υπό ελεγχόμενες παρεμβατικές πειραματικές συνθήκες. </a:t>
            </a:r>
            <a:br>
              <a:rPr lang="el-GR" sz="2500" dirty="0"/>
            </a:br>
            <a:br>
              <a:rPr lang="en-US" sz="2500" dirty="0"/>
            </a:br>
            <a:endParaRPr lang="en-GB" sz="25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222F026-5A5E-1709-C1FE-1CF7F1927D19}"/>
              </a:ext>
            </a:extLst>
          </p:cNvPr>
          <p:cNvSpPr txBox="1">
            <a:spLocks/>
          </p:cNvSpPr>
          <p:nvPr/>
        </p:nvSpPr>
        <p:spPr>
          <a:xfrm>
            <a:off x="838200" y="2743200"/>
            <a:ext cx="10515600" cy="25927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l-GR" sz="2500" b="1" dirty="0"/>
          </a:p>
          <a:p>
            <a:pPr algn="ctr"/>
            <a:r>
              <a:rPr lang="el-GR" sz="2500" b="1" dirty="0"/>
              <a:t>Οι κλινικές δοκιμές κατηγοριοποιούνται σε:</a:t>
            </a:r>
          </a:p>
          <a:p>
            <a:pPr algn="ctr"/>
            <a:endParaRPr lang="el-GR" sz="2500" dirty="0"/>
          </a:p>
          <a:p>
            <a:pPr marL="457200" indent="-457200" algn="ctr">
              <a:buFont typeface="+mj-lt"/>
              <a:buAutoNum type="arabicPeriod"/>
            </a:pPr>
            <a:r>
              <a:rPr lang="el-GR" sz="2500" dirty="0"/>
              <a:t>Τυχαιοποιημένες (RCT), όπου οι συμμετέχοντες κατανέμονται τυχαία προς λήψη μίας εκ των τις κλινικών παρεμβάσεις</a:t>
            </a:r>
          </a:p>
          <a:p>
            <a:pPr marL="457200" indent="-457200" algn="ctr">
              <a:buFont typeface="+mj-lt"/>
              <a:buAutoNum type="arabicPeriod"/>
            </a:pPr>
            <a:r>
              <a:rPr lang="el-GR" sz="2500" dirty="0"/>
              <a:t>Μη τυχαιοποιημένες (Non-RCT)</a:t>
            </a:r>
            <a:br>
              <a:rPr lang="el-GR" sz="2500" dirty="0"/>
            </a:br>
            <a:br>
              <a:rPr lang="el-GR" sz="2500" dirty="0"/>
            </a:br>
            <a:r>
              <a:rPr lang="el-GR" sz="2500" dirty="0"/>
              <a:t>Στην παρούσα εργασία έχουν μελετηθεί και τα δυο είδη.</a:t>
            </a:r>
          </a:p>
          <a:p>
            <a:pPr algn="ctr"/>
            <a:br>
              <a:rPr lang="el-GR" sz="2500" dirty="0"/>
            </a:br>
            <a:br>
              <a:rPr lang="en-US" sz="2500" dirty="0"/>
            </a:b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660911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838200" y="254643"/>
            <a:ext cx="10515600" cy="2928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  <a:br>
              <a:rPr lang="el-GR" sz="2500" b="1" dirty="0"/>
            </a:br>
            <a:endParaRPr lang="en-US" sz="2500" b="1" dirty="0"/>
          </a:p>
          <a:p>
            <a:pPr algn="ctr"/>
            <a:r>
              <a:rPr lang="en-GB" sz="2500" dirty="0"/>
              <a:t>EHR </a:t>
            </a:r>
            <a:r>
              <a:rPr lang="el-GR" sz="2500" dirty="0"/>
              <a:t>Δεδομένα αποτελούν ηλεκτρονικές εγγραφές σχετιζόμενες με τον τομέα υγείας. Περιλαμβάνουν πλήθος εγγραφών και ποικιλία τύπων δεδομένων (εικόνες, κείμενο, </a:t>
            </a:r>
            <a:r>
              <a:rPr lang="en-US" sz="2500" dirty="0"/>
              <a:t>ICD-10 </a:t>
            </a:r>
            <a:r>
              <a:rPr lang="el-GR" sz="2500" dirty="0"/>
              <a:t>κωδικούς κτλ.). </a:t>
            </a:r>
            <a:br>
              <a:rPr lang="el-GR" sz="2500" dirty="0"/>
            </a:br>
            <a:r>
              <a:rPr lang="el-GR" sz="2500" dirty="0"/>
              <a:t>Συνεπώς, αποτελούν πολύτιμη πληροφορία, αλλά παράλληλα είναι πιο απαιτητικά προς ανάλυση τους, με τα κλασσικά στατιστικά μοντέλα.  </a:t>
            </a:r>
            <a:endParaRPr lang="en-US" sz="2500" b="1" dirty="0"/>
          </a:p>
          <a:p>
            <a:pPr algn="ctr"/>
            <a:endParaRPr lang="en-GB" sz="25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1073552" y="3032567"/>
            <a:ext cx="10515600" cy="309551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500" b="1" dirty="0"/>
              <a:t>Public Registries</a:t>
            </a:r>
            <a:r>
              <a:rPr lang="el-GR" sz="2500" b="1" dirty="0"/>
              <a:t> </a:t>
            </a:r>
            <a:r>
              <a:rPr lang="en-US" sz="2500" b="1" dirty="0"/>
              <a:t>as Part of EHR</a:t>
            </a:r>
            <a:br>
              <a:rPr lang="el-GR" sz="2500" b="1" dirty="0"/>
            </a:br>
            <a:endParaRPr lang="el-GR" sz="2500" b="1" dirty="0"/>
          </a:p>
          <a:p>
            <a:pPr algn="ctr"/>
            <a:r>
              <a:rPr lang="el-GR" sz="2500" dirty="0"/>
              <a:t>Το 2005 το </a:t>
            </a:r>
            <a:r>
              <a:rPr lang="en-GB" sz="2500" dirty="0"/>
              <a:t>International Committee of Medical Journal Editors (ICMJE),</a:t>
            </a:r>
            <a:r>
              <a:rPr lang="el-GR" sz="2500" dirty="0"/>
              <a:t> αποφάσισε την ανάρτηση των </a:t>
            </a:r>
            <a:r>
              <a:rPr lang="en-US" sz="2500" dirty="0"/>
              <a:t>CT</a:t>
            </a:r>
            <a:r>
              <a:rPr lang="el-GR" sz="2500" dirty="0"/>
              <a:t> σε δημόσια αποθετήρια (</a:t>
            </a:r>
            <a:r>
              <a:rPr lang="en-US" sz="2500" dirty="0"/>
              <a:t>Registries)</a:t>
            </a:r>
            <a:r>
              <a:rPr lang="el-GR" sz="2500" dirty="0"/>
              <a:t>, ώστε να επιτευχθεί η έγκυρη καταγραφής του σχεδιασμού τους, με σκοπό την πιο στοχευμένη χρηματοδότησή. </a:t>
            </a:r>
          </a:p>
          <a:p>
            <a:pPr algn="ctr"/>
            <a:r>
              <a:rPr lang="el-GR" sz="2500" dirty="0"/>
              <a:t>Ένα παράδειγμα είναι το </a:t>
            </a:r>
            <a:r>
              <a:rPr lang="en-GB" sz="2500" u="sng" dirty="0">
                <a:hlinkClick r:id="rId2"/>
              </a:rPr>
              <a:t>ClinicalTrials.gov</a:t>
            </a:r>
            <a:r>
              <a:rPr lang="en-GB" sz="2500" dirty="0"/>
              <a:t> </a:t>
            </a:r>
            <a:r>
              <a:rPr lang="el-GR" sz="2500" dirty="0"/>
              <a:t>του </a:t>
            </a:r>
            <a:r>
              <a:rPr lang="en-US" sz="2500" dirty="0"/>
              <a:t>NIH, </a:t>
            </a:r>
            <a:r>
              <a:rPr lang="el-GR" sz="2500" dirty="0"/>
              <a:t>που χρησιμοποιήθηκε στην παρούσα εργασία. 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7421-B3EA-CEAE-E8FA-083B0D801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000" b="1" dirty="0"/>
              <a:t>Phases</a:t>
            </a:r>
            <a:endParaRPr lang="en-GB" sz="3000" b="1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C10AA64-350B-915D-D6B0-A9099D5DABEB}"/>
              </a:ext>
            </a:extLst>
          </p:cNvPr>
          <p:cNvSpPr txBox="1">
            <a:spLocks/>
          </p:cNvSpPr>
          <p:nvPr/>
        </p:nvSpPr>
        <p:spPr>
          <a:xfrm>
            <a:off x="838200" y="1226916"/>
            <a:ext cx="10515600" cy="51738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500"/>
              <a:t>Phase 1:  </a:t>
            </a:r>
            <a:r>
              <a:rPr lang="en-US" sz="2500" dirty="0"/>
              <a:t>‘</a:t>
            </a:r>
            <a:r>
              <a:rPr lang="en-GB" sz="2500" dirty="0"/>
              <a:t>Dose-Escalation’  or  ‘Human Pharmacology’</a:t>
            </a:r>
          </a:p>
          <a:p>
            <a:r>
              <a:rPr lang="en-GB" sz="2500" dirty="0"/>
              <a:t>First human experiment phase. </a:t>
            </a:r>
            <a:br>
              <a:rPr lang="en-GB" sz="2500" dirty="0"/>
            </a:br>
            <a:r>
              <a:rPr lang="en-GB" sz="2500" dirty="0"/>
              <a:t>Escalating dose – Side effects (e.g., MTD)</a:t>
            </a:r>
          </a:p>
          <a:p>
            <a:endParaRPr lang="en-GB" sz="2500" dirty="0"/>
          </a:p>
          <a:p>
            <a:r>
              <a:rPr lang="en-GB" sz="2500" dirty="0"/>
              <a:t>Phase 2:  ‘Therapeutic Exploratory’</a:t>
            </a:r>
          </a:p>
          <a:p>
            <a:r>
              <a:rPr lang="en-GB" sz="2500" dirty="0"/>
              <a:t>Test safety, pharmacokinetics, pharmacodynamics. </a:t>
            </a:r>
          </a:p>
          <a:p>
            <a:endParaRPr lang="en-GB" sz="2500" dirty="0"/>
          </a:p>
          <a:p>
            <a:r>
              <a:rPr lang="en-GB" sz="2500" dirty="0"/>
              <a:t>Phase 3:</a:t>
            </a:r>
            <a:br>
              <a:rPr lang="en-GB" sz="2500" dirty="0"/>
            </a:b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3999903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316</Words>
  <Application>Microsoft Office PowerPoint</Application>
  <PresentationFormat>Widescreen</PresentationFormat>
  <Paragraphs>26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 </vt:lpstr>
      <vt:lpstr>Τίτλος Διπλωματικής Εργασίας:  Πρόβλεψη πρόωρου τερματισμού κλινικών δοκιμών με μοντέλα μηχανικής μάθησης vs κλασσικής παλινδρόμησης, βάση ανάλυσης των χαρακτηριστικών σχεδιασμού τους</vt:lpstr>
      <vt:lpstr>Clinical Trials (CT)  Οι κλινικές δοκιμές αποτελούν μελέτες σε ανθρώπους, υπό ελεγχόμενες παρεμβατικές πειραματικές συνθήκες.   </vt:lpstr>
      <vt:lpstr>PowerPoint Presentation</vt:lpstr>
      <vt:lpstr>Phases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2025-10-07T15:56:42Z</dcterms:modified>
</cp:coreProperties>
</file>